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6"/>
  </p:notesMasterIdLst>
  <p:sldIdLst>
    <p:sldId id="302" r:id="rId2"/>
    <p:sldId id="319" r:id="rId3"/>
    <p:sldId id="316" r:id="rId4"/>
    <p:sldId id="321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41059"/>
    <a:srgbClr val="F05E39"/>
    <a:srgbClr val="9B8F8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2613"/>
    <p:restoredTop sz="94662"/>
  </p:normalViewPr>
  <p:slideViewPr>
    <p:cSldViewPr snapToGrid="0" snapToObjects="1">
      <p:cViewPr varScale="1">
        <p:scale>
          <a:sx n="112" d="100"/>
          <a:sy n="112" d="100"/>
        </p:scale>
        <p:origin x="752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7EF8936-AEC8-CE43-A66A-72CABC9B49B3}" type="datetimeFigureOut">
              <a:rPr lang="en-US" smtClean="0"/>
              <a:t>9/29/20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63B1F86-76B5-A74E-A325-E418F0D74D1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563176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-Launch Lab X GEO is a global accelerator, taking place virtually,  fostering a global ecosystem. </a:t>
            </a:r>
            <a:br>
              <a:rPr lang="en-US"/>
            </a:br>
            <a:r>
              <a:rPr lang="en-US"/>
              <a:t>-Ideas that travel are the ones that grow. </a:t>
            </a:r>
          </a:p>
          <a:p>
            <a:endParaRPr lang="en-US"/>
          </a:p>
          <a:p>
            <a:pPr marL="342900" indent="-342900">
              <a:lnSpc>
                <a:spcPts val="3200"/>
              </a:lnSpc>
              <a:buFont typeface="Arial" panose="020B0604020202020204" pitchFamily="34" charset="0"/>
              <a:buChar char="•"/>
            </a:pPr>
            <a:r>
              <a:rPr lang="en-US" sz="1200">
                <a:solidFill>
                  <a:srgbClr val="646460"/>
                </a:solidFill>
                <a:latin typeface="Larsseit" pitchFamily="2" charset="77"/>
              </a:rPr>
              <a:t>Launch Lab X GEO is a </a:t>
            </a:r>
            <a:r>
              <a:rPr lang="en-US" sz="1200" b="1">
                <a:solidFill>
                  <a:srgbClr val="646460"/>
                </a:solidFill>
                <a:latin typeface="Larsseit" pitchFamily="2" charset="77"/>
              </a:rPr>
              <a:t>global accelerator</a:t>
            </a:r>
          </a:p>
          <a:p>
            <a:pPr marL="285750" indent="-285750">
              <a:lnSpc>
                <a:spcPts val="3200"/>
              </a:lnSpc>
              <a:buFont typeface="Arial"/>
              <a:buChar char="•"/>
            </a:pPr>
            <a:r>
              <a:rPr lang="en-US" sz="1200">
                <a:solidFill>
                  <a:srgbClr val="646460"/>
                </a:solidFill>
                <a:latin typeface="Larsseit"/>
              </a:rPr>
              <a:t>For </a:t>
            </a:r>
            <a:r>
              <a:rPr lang="en-US" sz="1200" b="1">
                <a:solidFill>
                  <a:srgbClr val="646460"/>
                </a:solidFill>
                <a:latin typeface="Larsseit"/>
              </a:rPr>
              <a:t>early-stage alumni founders </a:t>
            </a:r>
            <a:r>
              <a:rPr lang="en-US" sz="1200">
                <a:solidFill>
                  <a:srgbClr val="646460"/>
                </a:solidFill>
                <a:latin typeface="Larsseit"/>
              </a:rPr>
              <a:t>working towards product-market fit</a:t>
            </a:r>
            <a:endParaRPr lang="en-US" sz="1200">
              <a:solidFill>
                <a:srgbClr val="646460"/>
              </a:solidFill>
              <a:latin typeface="Larsseit" pitchFamily="2" charset="77"/>
            </a:endParaRPr>
          </a:p>
          <a:p>
            <a:pPr marL="285750" indent="-285750">
              <a:lnSpc>
                <a:spcPts val="3200"/>
              </a:lnSpc>
              <a:buFont typeface="Arial" panose="020B0604020202020204" pitchFamily="34" charset="0"/>
              <a:buChar char="•"/>
            </a:pPr>
            <a:r>
              <a:rPr lang="en-US" sz="1200" b="1">
                <a:solidFill>
                  <a:srgbClr val="646460"/>
                </a:solidFill>
                <a:latin typeface="Larsseit"/>
              </a:rPr>
              <a:t>Community </a:t>
            </a:r>
            <a:r>
              <a:rPr lang="en-US" sz="1200">
                <a:solidFill>
                  <a:srgbClr val="646460"/>
                </a:solidFill>
                <a:latin typeface="Larsseit"/>
              </a:rPr>
              <a:t>to connect with other founders </a:t>
            </a:r>
            <a:br>
              <a:rPr lang="en-US" sz="1200">
                <a:solidFill>
                  <a:srgbClr val="646460"/>
                </a:solidFill>
                <a:latin typeface="Larsseit"/>
              </a:rPr>
            </a:br>
            <a:r>
              <a:rPr lang="en-US" sz="1200">
                <a:solidFill>
                  <a:srgbClr val="646460"/>
                </a:solidFill>
                <a:latin typeface="Larsseit"/>
              </a:rPr>
              <a:t>who have been where you are now</a:t>
            </a:r>
            <a:endParaRPr lang="en-US" sz="1200">
              <a:solidFill>
                <a:srgbClr val="646460"/>
              </a:solidFill>
              <a:latin typeface="Larsseit" pitchFamily="2" charset="77"/>
            </a:endParaRPr>
          </a:p>
          <a:p>
            <a:pPr marL="285750" indent="-285750">
              <a:lnSpc>
                <a:spcPts val="3200"/>
              </a:lnSpc>
              <a:buFont typeface="Arial" panose="020B0604020202020204" pitchFamily="34" charset="0"/>
              <a:buChar char="•"/>
            </a:pPr>
            <a:r>
              <a:rPr lang="en-US" sz="1200" b="1">
                <a:solidFill>
                  <a:srgbClr val="646460"/>
                </a:solidFill>
                <a:latin typeface="Larsseit"/>
              </a:rPr>
              <a:t>Connection</a:t>
            </a:r>
            <a:r>
              <a:rPr lang="en-US" sz="1200">
                <a:solidFill>
                  <a:srgbClr val="646460"/>
                </a:solidFill>
                <a:latin typeface="Larsseit"/>
              </a:rPr>
              <a:t> to experts, thought leaders, </a:t>
            </a:r>
            <a:br>
              <a:rPr lang="en-US" sz="1200">
                <a:solidFill>
                  <a:srgbClr val="646460"/>
                </a:solidFill>
                <a:latin typeface="Larsseit"/>
              </a:rPr>
            </a:br>
            <a:r>
              <a:rPr lang="en-US" sz="1200">
                <a:solidFill>
                  <a:srgbClr val="646460"/>
                </a:solidFill>
                <a:latin typeface="Larsseit"/>
              </a:rPr>
              <a:t>advisors who can help you advance your venture</a:t>
            </a:r>
          </a:p>
          <a:p>
            <a:pPr>
              <a:lnSpc>
                <a:spcPts val="3200"/>
              </a:lnSpc>
            </a:pPr>
            <a:endParaRPr lang="en-US">
              <a:solidFill>
                <a:srgbClr val="646460"/>
              </a:solidFill>
              <a:latin typeface="Larsseit" pitchFamily="2" charset="77"/>
            </a:endParaRPr>
          </a:p>
          <a:p>
            <a:endParaRPr lang="en-US"/>
          </a:p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FA49760-A3B0-5F46-8AB5-2C22AAD5EE31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712094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-Launch Lab X GEO is a global accelerator, taking place virtually,  fostering a global ecosystem. </a:t>
            </a:r>
            <a:br>
              <a:rPr lang="en-US"/>
            </a:br>
            <a:r>
              <a:rPr lang="en-US"/>
              <a:t>-Ideas that travel are the ones that grow. </a:t>
            </a:r>
          </a:p>
          <a:p>
            <a:endParaRPr lang="en-US"/>
          </a:p>
          <a:p>
            <a:pPr marL="342900" indent="-342900">
              <a:lnSpc>
                <a:spcPts val="3200"/>
              </a:lnSpc>
              <a:buFont typeface="Arial" panose="020B0604020202020204" pitchFamily="34" charset="0"/>
              <a:buChar char="•"/>
            </a:pPr>
            <a:r>
              <a:rPr lang="en-US" sz="1200">
                <a:solidFill>
                  <a:srgbClr val="646460"/>
                </a:solidFill>
                <a:latin typeface="Larsseit" pitchFamily="2" charset="77"/>
              </a:rPr>
              <a:t>Launch Lab X GEO is a </a:t>
            </a:r>
            <a:r>
              <a:rPr lang="en-US" sz="1200" b="1">
                <a:solidFill>
                  <a:srgbClr val="646460"/>
                </a:solidFill>
                <a:latin typeface="Larsseit" pitchFamily="2" charset="77"/>
              </a:rPr>
              <a:t>global accelerator</a:t>
            </a:r>
          </a:p>
          <a:p>
            <a:pPr marL="285750" indent="-285750">
              <a:lnSpc>
                <a:spcPts val="3200"/>
              </a:lnSpc>
              <a:buFont typeface="Arial"/>
              <a:buChar char="•"/>
            </a:pPr>
            <a:r>
              <a:rPr lang="en-US" sz="1200">
                <a:solidFill>
                  <a:srgbClr val="646460"/>
                </a:solidFill>
                <a:latin typeface="Larsseit"/>
              </a:rPr>
              <a:t>For </a:t>
            </a:r>
            <a:r>
              <a:rPr lang="en-US" sz="1200" b="1">
                <a:solidFill>
                  <a:srgbClr val="646460"/>
                </a:solidFill>
                <a:latin typeface="Larsseit"/>
              </a:rPr>
              <a:t>early-stage alumni founders </a:t>
            </a:r>
            <a:r>
              <a:rPr lang="en-US" sz="1200">
                <a:solidFill>
                  <a:srgbClr val="646460"/>
                </a:solidFill>
                <a:latin typeface="Larsseit"/>
              </a:rPr>
              <a:t>working towards product-market fit</a:t>
            </a:r>
            <a:endParaRPr lang="en-US" sz="1200">
              <a:solidFill>
                <a:srgbClr val="646460"/>
              </a:solidFill>
              <a:latin typeface="Larsseit" pitchFamily="2" charset="77"/>
            </a:endParaRPr>
          </a:p>
          <a:p>
            <a:pPr marL="285750" indent="-285750">
              <a:lnSpc>
                <a:spcPts val="3200"/>
              </a:lnSpc>
              <a:buFont typeface="Arial" panose="020B0604020202020204" pitchFamily="34" charset="0"/>
              <a:buChar char="•"/>
            </a:pPr>
            <a:r>
              <a:rPr lang="en-US" sz="1200" b="1">
                <a:solidFill>
                  <a:srgbClr val="646460"/>
                </a:solidFill>
                <a:latin typeface="Larsseit"/>
              </a:rPr>
              <a:t>Community </a:t>
            </a:r>
            <a:r>
              <a:rPr lang="en-US" sz="1200">
                <a:solidFill>
                  <a:srgbClr val="646460"/>
                </a:solidFill>
                <a:latin typeface="Larsseit"/>
              </a:rPr>
              <a:t>to connect with other founders </a:t>
            </a:r>
            <a:br>
              <a:rPr lang="en-US" sz="1200">
                <a:solidFill>
                  <a:srgbClr val="646460"/>
                </a:solidFill>
                <a:latin typeface="Larsseit"/>
              </a:rPr>
            </a:br>
            <a:r>
              <a:rPr lang="en-US" sz="1200">
                <a:solidFill>
                  <a:srgbClr val="646460"/>
                </a:solidFill>
                <a:latin typeface="Larsseit"/>
              </a:rPr>
              <a:t>who have been where you are now</a:t>
            </a:r>
            <a:endParaRPr lang="en-US" sz="1200">
              <a:solidFill>
                <a:srgbClr val="646460"/>
              </a:solidFill>
              <a:latin typeface="Larsseit" pitchFamily="2" charset="77"/>
            </a:endParaRPr>
          </a:p>
          <a:p>
            <a:pPr marL="285750" indent="-285750">
              <a:lnSpc>
                <a:spcPts val="3200"/>
              </a:lnSpc>
              <a:buFont typeface="Arial" panose="020B0604020202020204" pitchFamily="34" charset="0"/>
              <a:buChar char="•"/>
            </a:pPr>
            <a:r>
              <a:rPr lang="en-US" sz="1200" b="1">
                <a:solidFill>
                  <a:srgbClr val="646460"/>
                </a:solidFill>
                <a:latin typeface="Larsseit"/>
              </a:rPr>
              <a:t>Connection</a:t>
            </a:r>
            <a:r>
              <a:rPr lang="en-US" sz="1200">
                <a:solidFill>
                  <a:srgbClr val="646460"/>
                </a:solidFill>
                <a:latin typeface="Larsseit"/>
              </a:rPr>
              <a:t> to experts, thought leaders, </a:t>
            </a:r>
            <a:br>
              <a:rPr lang="en-US" sz="1200">
                <a:solidFill>
                  <a:srgbClr val="646460"/>
                </a:solidFill>
                <a:latin typeface="Larsseit"/>
              </a:rPr>
            </a:br>
            <a:r>
              <a:rPr lang="en-US" sz="1200">
                <a:solidFill>
                  <a:srgbClr val="646460"/>
                </a:solidFill>
                <a:latin typeface="Larsseit"/>
              </a:rPr>
              <a:t>advisors who can help you advance your venture</a:t>
            </a:r>
          </a:p>
          <a:p>
            <a:pPr>
              <a:lnSpc>
                <a:spcPts val="3200"/>
              </a:lnSpc>
            </a:pPr>
            <a:endParaRPr lang="en-US">
              <a:solidFill>
                <a:srgbClr val="646460"/>
              </a:solidFill>
              <a:latin typeface="Larsseit" pitchFamily="2" charset="77"/>
            </a:endParaRPr>
          </a:p>
          <a:p>
            <a:endParaRPr lang="en-US"/>
          </a:p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FA49760-A3B0-5F46-8AB5-2C22AAD5EE31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335562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80DF2E-90F3-8649-A773-1A0152916CB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1639158-1B49-4543-A531-0A8406B911F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19FC2EC-A8C9-174C-97AB-293ADABAF9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4B4402-6D37-F64D-99DC-B6B41B28A2CC}" type="datetimeFigureOut">
              <a:rPr lang="en-US" smtClean="0"/>
              <a:t>9/29/20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DC2CC8-5E56-1446-A706-176795C3AB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A1FA632-F173-2246-87B1-A7CCD2C97F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38BB70-45E1-4148-9E87-A4B0D3A6D8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878600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2E34AD-F559-D641-9CFA-245EB3EF27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779691E-093B-894C-97CF-C42629BB3FA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6C57EB5-B0D5-1141-B7A0-8097EC127A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4B4402-6D37-F64D-99DC-B6B41B28A2CC}" type="datetimeFigureOut">
              <a:rPr lang="en-US" smtClean="0"/>
              <a:t>9/29/20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EFE3A13-0FAC-A84A-9012-954A16710A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54569BB-4A57-B249-B350-6FE0C47D5C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38BB70-45E1-4148-9E87-A4B0D3A6D8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675307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013016-CAB1-AB42-BBF6-0EBCB94175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5FE9BF4-B5E0-F244-8C4E-DBE38ABEAEF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9447A0F-730D-704A-9437-F8205EAC3B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4B4402-6D37-F64D-99DC-B6B41B28A2CC}" type="datetimeFigureOut">
              <a:rPr lang="en-US" smtClean="0"/>
              <a:t>9/29/20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5C05D87-0E15-AB44-BA1D-C4A34FC59D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EE0C5D7-95C3-6D47-BC37-1023B1F2FE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38BB70-45E1-4148-9E87-A4B0D3A6D8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930775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12BB94-6ED9-D749-98DD-1F4A0B0339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27F7F5-3030-A14F-A11E-499F1FBCA01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AE31405-A5DD-B44D-A758-542BB8AE51A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4F6E81C-B8FC-E345-ADED-7E14F79AAD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4B4402-6D37-F64D-99DC-B6B41B28A2CC}" type="datetimeFigureOut">
              <a:rPr lang="en-US" smtClean="0"/>
              <a:t>9/29/20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DFE7021-D028-304D-B952-AC0907B607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F82B7E7-EC8A-3D45-94A5-B28DA5BB5B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38BB70-45E1-4148-9E87-A4B0D3A6D8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908170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6C24F5-B6B6-9F4C-95C3-134C0A0194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3C1FFC4-990E-9245-9261-07BD092DC0F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143E739-F7EA-894C-9B61-DA5B4944943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4AED77F-8763-6C4D-AB92-14CBAF4C82F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D8D9C78-EAC7-2645-B381-BCACBA02BA1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EC793B8-A2B2-4E41-AF9C-9276FAC771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4B4402-6D37-F64D-99DC-B6B41B28A2CC}" type="datetimeFigureOut">
              <a:rPr lang="en-US" smtClean="0"/>
              <a:t>9/29/20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0AEA982-2F3D-E94C-AD6E-E0B2BAADDA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94C09B6-57B4-DC48-B9D0-830306A606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38BB70-45E1-4148-9E87-A4B0D3A6D8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776647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A6262D-4A48-8943-B859-0AA04C112F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5785FD2-AF76-D14F-9480-FD368339DE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4B4402-6D37-F64D-99DC-B6B41B28A2CC}" type="datetimeFigureOut">
              <a:rPr lang="en-US" smtClean="0"/>
              <a:t>9/29/20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312717B-206D-4C44-863A-19AC57B8C8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0A999A1-F7EE-4746-8C78-1D629966C6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38BB70-45E1-4148-9E87-A4B0D3A6D8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515593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8B5F353-DF5F-7947-ADD3-24C2AB0048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4B4402-6D37-F64D-99DC-B6B41B28A2CC}" type="datetimeFigureOut">
              <a:rPr lang="en-US" smtClean="0"/>
              <a:t>9/29/20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178B020-3BED-2642-991B-DDDC1914B4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18F6047-EC64-6947-BFB0-4B15EED114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38BB70-45E1-4148-9E87-A4B0D3A6D8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28430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183EA6-E1CD-6B47-80D2-88A3474841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1A0890A-AD10-A047-922E-167CDCACF69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0959073-2343-DB4C-8DD7-1523DCA9CD6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F9D7FCF-FF0C-C64B-8537-BE71E97473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4B4402-6D37-F64D-99DC-B6B41B28A2CC}" type="datetimeFigureOut">
              <a:rPr lang="en-US" smtClean="0"/>
              <a:t>9/29/20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6DE9FCD-493C-AC4D-9E6D-D39AA518A2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60C8265-3133-EA4F-8357-2DCC71212D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38BB70-45E1-4148-9E87-A4B0D3A6D8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61422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5458CA-08A3-6E48-A004-8FC62CED68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B8DA2E3-9814-6C43-9D25-F11774DCB47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140F502-2568-8C4C-B307-DF189C4DFF0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91B543C-2DA6-1F44-BF0D-F311BB4522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4B4402-6D37-F64D-99DC-B6B41B28A2CC}" type="datetimeFigureOut">
              <a:rPr lang="en-US" smtClean="0"/>
              <a:t>9/29/20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23AFBA0-97D9-5848-92AC-99B4E39BCB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9C94C83-D9C1-1349-9917-28AB74BF1F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38BB70-45E1-4148-9E87-A4B0D3A6D8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37727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58AE74-BAE8-1E40-BD38-4D52C31077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320A7BE-EBD4-DB45-ACD0-DB00257310F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42201D6-C08A-094F-BAA4-2706B27691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4B4402-6D37-F64D-99DC-B6B41B28A2CC}" type="datetimeFigureOut">
              <a:rPr lang="en-US" smtClean="0"/>
              <a:t>9/29/20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FDBAA9C-7B53-744C-81D1-116A142E1A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C41B3A9-CB49-DC4E-9765-036030765A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38BB70-45E1-4148-9E87-A4B0D3A6D8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975815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4BE3A36-E088-C147-8CA8-116280370F9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762EF5D-B6E6-7448-8589-C61999AC6B5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38EC9A5-C237-834B-A477-57DB0BE6DE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4B4402-6D37-F64D-99DC-B6B41B28A2CC}" type="datetimeFigureOut">
              <a:rPr lang="en-US" smtClean="0"/>
              <a:t>9/29/20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E331BBD-AE43-E04A-8770-F04B6819C2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55F53E7-1DE9-1245-A0B2-486E66040F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38BB70-45E1-4148-9E87-A4B0D3A6D8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999651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1E70E39-C7B9-BE45-80FB-57D24E0202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04106D7-1F47-FC4F-9C28-7DF1FFE02B5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01C7AD-D413-154E-B1E0-2CEA377EEEC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4B4402-6D37-F64D-99DC-B6B41B28A2CC}" type="datetimeFigureOut">
              <a:rPr lang="en-US" smtClean="0"/>
              <a:t>9/29/20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CD4A474-906A-4E43-8294-5B60CC0DC3B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FFA48F4-25FC-9B4A-BEAF-B63078FAF53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738BB70-45E1-4148-9E87-A4B0D3A6D8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262509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fine.tech/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.jpg"/><Relationship Id="rId4" Type="http://schemas.openxmlformats.org/officeDocument/2006/relationships/hyperlink" Target="mailto:emmanuelb@anuelenergy.com" TargetMode="Externa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fine.tech/" TargetMode="Externa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jpg"/><Relationship Id="rId5" Type="http://schemas.openxmlformats.org/officeDocument/2006/relationships/hyperlink" Target="mailto:emmanuelb@anuelenergy.com" TargetMode="External"/><Relationship Id="rId4" Type="http://schemas.openxmlformats.org/officeDocument/2006/relationships/hyperlink" Target="mailto:franky@anuelenergy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F612A48B-7381-0A41-ACB9-2910A918FDA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3576"/>
            <a:ext cx="12185650" cy="68615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1887185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90C3E768-AACD-1943-8098-26665640BBDC}"/>
              </a:ext>
            </a:extLst>
          </p:cNvPr>
          <p:cNvSpPr txBox="1">
            <a:spLocks/>
          </p:cNvSpPr>
          <p:nvPr/>
        </p:nvSpPr>
        <p:spPr>
          <a:xfrm>
            <a:off x="349887" y="12304"/>
            <a:ext cx="5321508" cy="700652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ts val="5000"/>
              </a:lnSpc>
            </a:pPr>
            <a:r>
              <a:rPr lang="en-US" sz="2800" b="1" dirty="0">
                <a:solidFill>
                  <a:srgbClr val="FF0000"/>
                </a:solidFill>
                <a:latin typeface="Beatrice Semibold" pitchFamily="2" charset="77"/>
                <a:ea typeface="Beatrice Semibold" pitchFamily="2" charset="77"/>
              </a:rPr>
              <a:t>Anuel Energy, Inc</a:t>
            </a:r>
            <a:endParaRPr lang="en-US" sz="2800" dirty="0">
              <a:solidFill>
                <a:srgbClr val="FF0000"/>
              </a:solidFill>
              <a:latin typeface="Beatrice Medium" pitchFamily="2" charset="77"/>
              <a:ea typeface="Beatrice Medium" pitchFamily="2" charset="77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B4B88D5-FEF8-B54E-94C4-31023D283ABC}"/>
              </a:ext>
            </a:extLst>
          </p:cNvPr>
          <p:cNvSpPr txBox="1"/>
          <p:nvPr/>
        </p:nvSpPr>
        <p:spPr>
          <a:xfrm>
            <a:off x="7565424" y="586836"/>
            <a:ext cx="4504655" cy="6286336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ts val="2100"/>
              </a:lnSpc>
            </a:pPr>
            <a:r>
              <a:rPr lang="en-US" sz="1250" spc="50" dirty="0">
                <a:solidFill>
                  <a:srgbClr val="141059"/>
                </a:solidFill>
                <a:latin typeface="Larsseit Medium" pitchFamily="2" charset="77"/>
              </a:rPr>
              <a:t>GREATEST ACCOMPLISHMENT: </a:t>
            </a:r>
            <a:br>
              <a:rPr lang="en-US" sz="1600" dirty="0">
                <a:solidFill>
                  <a:srgbClr val="141059"/>
                </a:solidFill>
                <a:latin typeface="Larsseit" pitchFamily="2" charset="77"/>
              </a:rPr>
            </a:br>
            <a:r>
              <a:rPr lang="en-US" sz="1550" dirty="0">
                <a:solidFill>
                  <a:srgbClr val="9B8F8B"/>
                </a:solidFill>
                <a:latin typeface="Larsseit" pitchFamily="2" charset="77"/>
              </a:rPr>
              <a:t>Facilitated the instalment of 10 solar systems at 10 healthcare clinics during a pandemic lockdown.</a:t>
            </a:r>
            <a:br>
              <a:rPr lang="en-US" sz="1550" dirty="0">
                <a:solidFill>
                  <a:srgbClr val="9B8F8B"/>
                </a:solidFill>
                <a:latin typeface="Larsseit" pitchFamily="2" charset="77"/>
              </a:rPr>
            </a:br>
            <a:endParaRPr lang="en-US" sz="1400" dirty="0">
              <a:solidFill>
                <a:srgbClr val="9B8F8B"/>
              </a:solidFill>
              <a:latin typeface="Larsseit" pitchFamily="2" charset="77"/>
            </a:endParaRPr>
          </a:p>
          <a:p>
            <a:pPr>
              <a:lnSpc>
                <a:spcPts val="2100"/>
              </a:lnSpc>
            </a:pPr>
            <a:r>
              <a:rPr lang="en-US" sz="1250" spc="50" dirty="0">
                <a:solidFill>
                  <a:srgbClr val="141059"/>
                </a:solidFill>
                <a:latin typeface="Larsseit Medium" pitchFamily="2" charset="77"/>
              </a:rPr>
              <a:t>BIGGEST CHALLENGE: </a:t>
            </a:r>
            <a:br>
              <a:rPr lang="en-US" sz="1600" dirty="0">
                <a:solidFill>
                  <a:srgbClr val="141059"/>
                </a:solidFill>
                <a:latin typeface="Larsseit" pitchFamily="2" charset="77"/>
              </a:rPr>
            </a:br>
            <a:r>
              <a:rPr lang="en-US" sz="1550" dirty="0">
                <a:solidFill>
                  <a:srgbClr val="9B8F8B"/>
                </a:solidFill>
                <a:latin typeface="Larsseit" pitchFamily="2" charset="77"/>
              </a:rPr>
              <a:t>Raising a pre-seed</a:t>
            </a:r>
            <a:br>
              <a:rPr lang="en-US" sz="1550" dirty="0">
                <a:solidFill>
                  <a:srgbClr val="9B8F8B"/>
                </a:solidFill>
                <a:latin typeface="Larsseit" pitchFamily="2" charset="77"/>
              </a:rPr>
            </a:br>
            <a:br>
              <a:rPr lang="en-US" sz="1600" dirty="0">
                <a:solidFill>
                  <a:srgbClr val="9B8F8B"/>
                </a:solidFill>
                <a:effectLst/>
                <a:latin typeface="Larsseit" pitchFamily="2" charset="77"/>
              </a:rPr>
            </a:br>
            <a:r>
              <a:rPr lang="en-US" sz="1250" spc="50" dirty="0">
                <a:solidFill>
                  <a:srgbClr val="141059"/>
                </a:solidFill>
                <a:latin typeface="Larsseit Medium" pitchFamily="2" charset="77"/>
              </a:rPr>
              <a:t>FUNDS RAISED: </a:t>
            </a:r>
            <a:br>
              <a:rPr lang="en-US" sz="1600" dirty="0">
                <a:solidFill>
                  <a:srgbClr val="141059"/>
                </a:solidFill>
                <a:latin typeface="Larsseit" pitchFamily="2" charset="77"/>
              </a:rPr>
            </a:br>
            <a:r>
              <a:rPr lang="en-US" sz="1600" dirty="0">
                <a:solidFill>
                  <a:schemeClr val="bg1">
                    <a:lumMod val="50000"/>
                  </a:schemeClr>
                </a:solidFill>
                <a:latin typeface="Larsseit" pitchFamily="2" charset="77"/>
              </a:rPr>
              <a:t>$</a:t>
            </a:r>
            <a:r>
              <a:rPr lang="en-US" sz="1550" dirty="0">
                <a:solidFill>
                  <a:srgbClr val="9B8F8B"/>
                </a:solidFill>
                <a:latin typeface="Larsseit" pitchFamily="2" charset="77"/>
              </a:rPr>
              <a:t>130,000</a:t>
            </a:r>
            <a:br>
              <a:rPr lang="en-US" sz="1600" dirty="0">
                <a:solidFill>
                  <a:srgbClr val="9B8F8B"/>
                </a:solidFill>
                <a:latin typeface="Larsseit" pitchFamily="2" charset="77"/>
              </a:rPr>
            </a:br>
            <a:endParaRPr lang="en-US" sz="1300" spc="50" dirty="0">
              <a:solidFill>
                <a:srgbClr val="9B8F8B"/>
              </a:solidFill>
              <a:latin typeface="Larsseit" pitchFamily="2" charset="77"/>
            </a:endParaRPr>
          </a:p>
          <a:p>
            <a:pPr>
              <a:lnSpc>
                <a:spcPts val="2100"/>
              </a:lnSpc>
            </a:pPr>
            <a:r>
              <a:rPr lang="en-US" sz="1250" spc="50" dirty="0">
                <a:solidFill>
                  <a:srgbClr val="141059"/>
                </a:solidFill>
                <a:latin typeface="Larsseit Medium" pitchFamily="2" charset="77"/>
              </a:rPr>
              <a:t>2020- 21  FUNDRAISING:</a:t>
            </a:r>
          </a:p>
          <a:p>
            <a:pPr>
              <a:lnSpc>
                <a:spcPts val="2100"/>
              </a:lnSpc>
            </a:pPr>
            <a:r>
              <a:rPr lang="en-US" sz="1550" dirty="0">
                <a:solidFill>
                  <a:srgbClr val="9B8F8B"/>
                </a:solidFill>
                <a:latin typeface="Larsseit" pitchFamily="2" charset="77"/>
              </a:rPr>
              <a:t>$750,000</a:t>
            </a:r>
            <a:br>
              <a:rPr lang="en-US" sz="1550" dirty="0">
                <a:solidFill>
                  <a:srgbClr val="9B8F8B"/>
                </a:solidFill>
                <a:latin typeface="Larsseit" pitchFamily="2" charset="77"/>
              </a:rPr>
            </a:br>
            <a:endParaRPr lang="en-US" sz="1300" spc="50" dirty="0">
              <a:solidFill>
                <a:srgbClr val="141059"/>
              </a:solidFill>
              <a:effectLst/>
              <a:latin typeface="Larsseit Medium" pitchFamily="2" charset="77"/>
            </a:endParaRPr>
          </a:p>
          <a:p>
            <a:pPr>
              <a:lnSpc>
                <a:spcPts val="2100"/>
              </a:lnSpc>
            </a:pPr>
            <a:r>
              <a:rPr lang="en-US" sz="1250" spc="50" dirty="0">
                <a:solidFill>
                  <a:srgbClr val="141059"/>
                </a:solidFill>
                <a:latin typeface="Larsseit Medium" pitchFamily="2" charset="77"/>
              </a:rPr>
              <a:t>LONG TERM GOALS:</a:t>
            </a:r>
            <a:endParaRPr lang="en-US" sz="1250" spc="50" dirty="0">
              <a:solidFill>
                <a:srgbClr val="141059"/>
              </a:solidFill>
              <a:effectLst/>
              <a:latin typeface="Larsseit Medium" pitchFamily="2" charset="77"/>
            </a:endParaRPr>
          </a:p>
          <a:p>
            <a:pPr>
              <a:lnSpc>
                <a:spcPts val="2100"/>
              </a:lnSpc>
            </a:pPr>
            <a:r>
              <a:rPr lang="en-US" sz="1550" dirty="0">
                <a:solidFill>
                  <a:srgbClr val="9B8F8B"/>
                </a:solidFill>
                <a:latin typeface="Larsseit" pitchFamily="2" charset="77"/>
              </a:rPr>
              <a:t>Achieve product-market-fit in US and UG.</a:t>
            </a:r>
            <a:br>
              <a:rPr lang="en-US" sz="1550" dirty="0">
                <a:solidFill>
                  <a:srgbClr val="9B8F8B"/>
                </a:solidFill>
                <a:latin typeface="Larsseit" pitchFamily="2" charset="77"/>
              </a:rPr>
            </a:br>
            <a:endParaRPr lang="en-US" sz="1400" dirty="0">
              <a:solidFill>
                <a:srgbClr val="141059"/>
              </a:solidFill>
              <a:effectLst/>
              <a:latin typeface="Larsseit" pitchFamily="2" charset="77"/>
            </a:endParaRPr>
          </a:p>
          <a:p>
            <a:pPr>
              <a:lnSpc>
                <a:spcPts val="2100"/>
              </a:lnSpc>
            </a:pPr>
            <a:r>
              <a:rPr lang="en-US" sz="1250" spc="50" dirty="0">
                <a:solidFill>
                  <a:srgbClr val="141059"/>
                </a:solidFill>
                <a:latin typeface="Larsseit Medium" pitchFamily="2" charset="77"/>
              </a:rPr>
              <a:t>QUARTERLY GOALS:</a:t>
            </a:r>
            <a:endParaRPr lang="en-US" sz="1250" spc="50" dirty="0">
              <a:solidFill>
                <a:srgbClr val="141059"/>
              </a:solidFill>
              <a:effectLst/>
              <a:latin typeface="Larsseit Medium" pitchFamily="2" charset="77"/>
            </a:endParaRPr>
          </a:p>
          <a:p>
            <a:pPr>
              <a:lnSpc>
                <a:spcPts val="2100"/>
              </a:lnSpc>
            </a:pPr>
            <a:r>
              <a:rPr lang="en-US" sz="1550" dirty="0">
                <a:solidFill>
                  <a:srgbClr val="9B8F8B"/>
                </a:solidFill>
                <a:latin typeface="Larsseit" pitchFamily="2" charset="77"/>
              </a:rPr>
              <a:t>Q4 – Improve current product version.</a:t>
            </a:r>
          </a:p>
          <a:p>
            <a:pPr>
              <a:lnSpc>
                <a:spcPts val="2100"/>
              </a:lnSpc>
            </a:pPr>
            <a:r>
              <a:rPr lang="en-US" sz="1550" dirty="0">
                <a:solidFill>
                  <a:srgbClr val="9B8F8B"/>
                </a:solidFill>
                <a:latin typeface="Larsseit" pitchFamily="2" charset="77"/>
              </a:rPr>
              <a:t>Q1 -- Release product version 2.0</a:t>
            </a:r>
          </a:p>
          <a:p>
            <a:pPr>
              <a:lnSpc>
                <a:spcPts val="2100"/>
              </a:lnSpc>
            </a:pPr>
            <a:r>
              <a:rPr lang="en-US" sz="1550" dirty="0">
                <a:solidFill>
                  <a:srgbClr val="9B8F8B"/>
                </a:solidFill>
                <a:latin typeface="Larsseit" pitchFamily="2" charset="77"/>
              </a:rPr>
              <a:t>Q2 --</a:t>
            </a:r>
            <a:r>
              <a:rPr lang="en-US" sz="1550" b="0" dirty="0">
                <a:solidFill>
                  <a:srgbClr val="9B8F8B"/>
                </a:solidFill>
                <a:effectLst/>
                <a:latin typeface="Larsseit" pitchFamily="2" charset="77"/>
              </a:rPr>
              <a:t> Onboa</a:t>
            </a:r>
            <a:r>
              <a:rPr lang="en-US" sz="1550" dirty="0">
                <a:solidFill>
                  <a:srgbClr val="9B8F8B"/>
                </a:solidFill>
                <a:latin typeface="Larsseit" pitchFamily="2" charset="77"/>
              </a:rPr>
              <a:t>rd U.S merchants. (Lowes, Home Deport)</a:t>
            </a:r>
          </a:p>
          <a:p>
            <a:pPr>
              <a:lnSpc>
                <a:spcPts val="2100"/>
              </a:lnSpc>
            </a:pPr>
            <a:r>
              <a:rPr lang="en-US" sz="1550" dirty="0">
                <a:solidFill>
                  <a:srgbClr val="9B8F8B"/>
                </a:solidFill>
                <a:latin typeface="Larsseit" pitchFamily="2" charset="77"/>
              </a:rPr>
              <a:t>Q3 -- </a:t>
            </a:r>
            <a:r>
              <a:rPr lang="en-US" sz="1550" b="0" dirty="0">
                <a:solidFill>
                  <a:srgbClr val="9B8F8B"/>
                </a:solidFill>
                <a:effectLst/>
                <a:latin typeface="Larsseit" pitchFamily="2" charset="77"/>
              </a:rPr>
              <a:t>Close a pre-seed and seed round.</a:t>
            </a:r>
            <a:br>
              <a:rPr lang="en-US" b="0" dirty="0">
                <a:effectLst/>
              </a:rPr>
            </a:br>
            <a:endParaRPr lang="en-US" b="0" dirty="0">
              <a:effectLst/>
            </a:endParaRPr>
          </a:p>
          <a:p>
            <a:pPr>
              <a:lnSpc>
                <a:spcPts val="2100"/>
              </a:lnSpc>
            </a:pPr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6ED4256-E368-2B42-897A-10B5A0201054}"/>
              </a:ext>
            </a:extLst>
          </p:cNvPr>
          <p:cNvSpPr txBox="1"/>
          <p:nvPr/>
        </p:nvSpPr>
        <p:spPr>
          <a:xfrm>
            <a:off x="3654108" y="567882"/>
            <a:ext cx="3599344" cy="6017032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ts val="2100"/>
              </a:lnSpc>
            </a:pPr>
            <a:r>
              <a:rPr lang="en-US" sz="1250" spc="50" dirty="0">
                <a:solidFill>
                  <a:srgbClr val="141059"/>
                </a:solidFill>
                <a:latin typeface="Larsseit Medium" pitchFamily="2" charset="77"/>
              </a:rPr>
              <a:t>VENTURE WEBSITE:</a:t>
            </a:r>
            <a:br>
              <a:rPr lang="en-US" sz="1600" dirty="0">
                <a:solidFill>
                  <a:srgbClr val="141059"/>
                </a:solidFill>
                <a:latin typeface="Larsseit" pitchFamily="2" charset="77"/>
              </a:rPr>
            </a:br>
            <a:r>
              <a:rPr lang="en-US" sz="1550" dirty="0">
                <a:solidFill>
                  <a:srgbClr val="9B8F8B"/>
                </a:solidFill>
                <a:latin typeface="Larsseit" pitchFamily="2" charset="77"/>
              </a:rPr>
              <a:t>https://</a:t>
            </a:r>
            <a:r>
              <a:rPr lang="en-US" sz="1550" dirty="0" err="1">
                <a:solidFill>
                  <a:srgbClr val="9B8F8B"/>
                </a:solidFill>
                <a:latin typeface="Larsseit" pitchFamily="2" charset="77"/>
              </a:rPr>
              <a:t>fine.tech</a:t>
            </a:r>
            <a:br>
              <a:rPr lang="en-US" sz="1550" dirty="0">
                <a:solidFill>
                  <a:srgbClr val="9B8F8B"/>
                </a:solidFill>
                <a:latin typeface="Larsseit" pitchFamily="2" charset="77"/>
              </a:rPr>
            </a:br>
            <a:endParaRPr lang="en-US" sz="1600" dirty="0">
              <a:solidFill>
                <a:srgbClr val="141059"/>
              </a:solidFill>
              <a:latin typeface="Larsseit" pitchFamily="2" charset="77"/>
            </a:endParaRPr>
          </a:p>
          <a:p>
            <a:pPr>
              <a:lnSpc>
                <a:spcPts val="2100"/>
              </a:lnSpc>
            </a:pPr>
            <a:r>
              <a:rPr lang="en-US" sz="1250" spc="50" dirty="0">
                <a:solidFill>
                  <a:srgbClr val="141059"/>
                </a:solidFill>
                <a:latin typeface="Larsseit Medium" pitchFamily="2" charset="77"/>
              </a:rPr>
              <a:t>VENTURE SHORT DESCRIPTION:</a:t>
            </a:r>
          </a:p>
          <a:p>
            <a:pPr>
              <a:lnSpc>
                <a:spcPts val="2100"/>
              </a:lnSpc>
            </a:pPr>
            <a:r>
              <a:rPr lang="en-US" sz="1550" dirty="0">
                <a:solidFill>
                  <a:srgbClr val="9B8F8B"/>
                </a:solidFill>
                <a:latin typeface="Larsseit" pitchFamily="2" charset="77"/>
              </a:rPr>
              <a:t>a mobile point of sale, and management system that helps solar energy merchants improve their liquidity and create a better customer experience through an inexpensive field agent network.</a:t>
            </a:r>
            <a:br>
              <a:rPr lang="en-US" sz="1600" dirty="0">
                <a:solidFill>
                  <a:srgbClr val="141059"/>
                </a:solidFill>
                <a:latin typeface="Larsseit" pitchFamily="2" charset="77"/>
              </a:rPr>
            </a:br>
            <a:endParaRPr lang="en-US" sz="1600" dirty="0">
              <a:solidFill>
                <a:srgbClr val="141059"/>
              </a:solidFill>
              <a:latin typeface="Larsseit Medium" pitchFamily="2" charset="77"/>
            </a:endParaRPr>
          </a:p>
          <a:p>
            <a:pPr>
              <a:lnSpc>
                <a:spcPts val="2100"/>
              </a:lnSpc>
            </a:pPr>
            <a:r>
              <a:rPr lang="en-US" sz="1250" spc="50" dirty="0">
                <a:solidFill>
                  <a:srgbClr val="141059"/>
                </a:solidFill>
                <a:latin typeface="Larsseit Medium" pitchFamily="2" charset="77"/>
              </a:rPr>
              <a:t>CITY, STATE, COUNTRY:</a:t>
            </a:r>
          </a:p>
          <a:p>
            <a:pPr>
              <a:lnSpc>
                <a:spcPts val="2100"/>
              </a:lnSpc>
            </a:pPr>
            <a:r>
              <a:rPr lang="en-US" sz="1550" dirty="0">
                <a:solidFill>
                  <a:srgbClr val="9B8F8B"/>
                </a:solidFill>
                <a:latin typeface="Larsseit" pitchFamily="2" charset="77"/>
              </a:rPr>
              <a:t>United States and Uganda.</a:t>
            </a:r>
            <a:br>
              <a:rPr lang="en-US" sz="1600" dirty="0">
                <a:solidFill>
                  <a:srgbClr val="9B8F8B"/>
                </a:solidFill>
                <a:latin typeface="Larsseit" pitchFamily="2" charset="77"/>
              </a:rPr>
            </a:br>
            <a:endParaRPr lang="en-US" sz="1600" dirty="0">
              <a:solidFill>
                <a:srgbClr val="9B8F8B"/>
              </a:solidFill>
              <a:latin typeface="Larsseit" pitchFamily="2" charset="77"/>
            </a:endParaRPr>
          </a:p>
          <a:p>
            <a:pPr>
              <a:lnSpc>
                <a:spcPts val="2100"/>
              </a:lnSpc>
            </a:pPr>
            <a:r>
              <a:rPr lang="en-US" sz="1250" spc="50" dirty="0">
                <a:solidFill>
                  <a:srgbClr val="141059"/>
                </a:solidFill>
                <a:latin typeface="Larsseit Medium" pitchFamily="2" charset="77"/>
              </a:rPr>
              <a:t>SECTOR: </a:t>
            </a:r>
            <a:r>
              <a:rPr lang="en-US" sz="1250" spc="50" dirty="0">
                <a:solidFill>
                  <a:srgbClr val="9B8F8B"/>
                </a:solidFill>
                <a:latin typeface="Larsseit Medium" pitchFamily="2" charset="77"/>
              </a:rPr>
              <a:t> </a:t>
            </a:r>
            <a:br>
              <a:rPr lang="en-US" sz="1600" dirty="0">
                <a:solidFill>
                  <a:srgbClr val="9B8F8B"/>
                </a:solidFill>
                <a:latin typeface="Larsseit" pitchFamily="2" charset="77"/>
              </a:rPr>
            </a:br>
            <a:r>
              <a:rPr lang="en-US" sz="1550" dirty="0">
                <a:solidFill>
                  <a:srgbClr val="9B8F8B"/>
                </a:solidFill>
                <a:latin typeface="Larsseit" pitchFamily="2" charset="77"/>
              </a:rPr>
              <a:t>Finance</a:t>
            </a:r>
            <a:br>
              <a:rPr lang="en-US" sz="1600" dirty="0">
                <a:solidFill>
                  <a:srgbClr val="9B8F8B"/>
                </a:solidFill>
                <a:latin typeface="Larsseit" pitchFamily="2" charset="77"/>
              </a:rPr>
            </a:br>
            <a:endParaRPr lang="en-US" sz="1600" dirty="0">
              <a:solidFill>
                <a:srgbClr val="9B8F8B"/>
              </a:solidFill>
              <a:latin typeface="Larsseit" pitchFamily="2" charset="77"/>
            </a:endParaRPr>
          </a:p>
          <a:p>
            <a:pPr>
              <a:lnSpc>
                <a:spcPts val="2100"/>
              </a:lnSpc>
            </a:pPr>
            <a:r>
              <a:rPr lang="en-US" sz="1250" spc="50" dirty="0">
                <a:solidFill>
                  <a:srgbClr val="141059"/>
                </a:solidFill>
                <a:latin typeface="Larsseit Medium" pitchFamily="2" charset="77"/>
              </a:rPr>
              <a:t>INDUSTRY:  </a:t>
            </a:r>
            <a:br>
              <a:rPr lang="en-US" sz="1600" dirty="0">
                <a:solidFill>
                  <a:srgbClr val="141059"/>
                </a:solidFill>
                <a:latin typeface="Larsseit" pitchFamily="2" charset="77"/>
              </a:rPr>
            </a:br>
            <a:r>
              <a:rPr lang="en-US" sz="1550" dirty="0">
                <a:solidFill>
                  <a:srgbClr val="9B8F8B"/>
                </a:solidFill>
                <a:latin typeface="Larsseit" pitchFamily="2" charset="77"/>
              </a:rPr>
              <a:t>Energy &amp; Home Improvement.</a:t>
            </a:r>
            <a:endParaRPr lang="en-US" b="1" dirty="0"/>
          </a:p>
          <a:p>
            <a:pPr>
              <a:lnSpc>
                <a:spcPts val="2100"/>
              </a:lnSpc>
            </a:pPr>
            <a:endParaRPr lang="en-US" sz="1300" spc="50" dirty="0">
              <a:solidFill>
                <a:srgbClr val="9B8F8B"/>
              </a:solidFill>
              <a:latin typeface="Larsseit Medium" pitchFamily="2" charset="77"/>
            </a:endParaRPr>
          </a:p>
          <a:p>
            <a:pPr>
              <a:lnSpc>
                <a:spcPts val="2100"/>
              </a:lnSpc>
            </a:pPr>
            <a:r>
              <a:rPr lang="en-US" sz="1250" spc="50" dirty="0">
                <a:solidFill>
                  <a:srgbClr val="141059"/>
                </a:solidFill>
                <a:latin typeface="Larsseit Medium" pitchFamily="2" charset="77"/>
              </a:rPr>
              <a:t>HEADCOUNT: </a:t>
            </a:r>
            <a:br>
              <a:rPr lang="en-US" sz="1600" dirty="0">
                <a:solidFill>
                  <a:srgbClr val="141059"/>
                </a:solidFill>
                <a:latin typeface="Larsseit" pitchFamily="2" charset="77"/>
              </a:rPr>
            </a:br>
            <a:r>
              <a:rPr lang="en-US" sz="1550" dirty="0">
                <a:solidFill>
                  <a:srgbClr val="9B8F8B"/>
                </a:solidFill>
                <a:latin typeface="Larsseit" pitchFamily="2" charset="77"/>
              </a:rPr>
              <a:t>5</a:t>
            </a:r>
          </a:p>
          <a:p>
            <a:pPr>
              <a:lnSpc>
                <a:spcPts val="2100"/>
              </a:lnSpc>
            </a:pPr>
            <a:endParaRPr lang="en-US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88510B92-311A-CF4B-A24F-28B9A7039DD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176" y="783729"/>
            <a:ext cx="2587623" cy="2757517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98BCE2A5-8508-6F4E-A26D-42644A1431D2}"/>
              </a:ext>
            </a:extLst>
          </p:cNvPr>
          <p:cNvSpPr/>
          <p:nvPr/>
        </p:nvSpPr>
        <p:spPr>
          <a:xfrm>
            <a:off x="247017" y="4015491"/>
            <a:ext cx="2992249" cy="82330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ts val="1900"/>
              </a:lnSpc>
            </a:pPr>
            <a:r>
              <a:rPr lang="en-US" i="1" dirty="0">
                <a:solidFill>
                  <a:srgbClr val="9B8F8B"/>
                </a:solidFill>
                <a:latin typeface="Larsseit" pitchFamily="2" charset="77"/>
              </a:rPr>
              <a:t>*</a:t>
            </a:r>
            <a:r>
              <a:rPr lang="en-US" sz="1400" dirty="0">
                <a:solidFill>
                  <a:srgbClr val="9B8F8B"/>
                </a:solidFill>
                <a:latin typeface="Larsseit" pitchFamily="2" charset="77"/>
              </a:rPr>
              <a:t>Our product </a:t>
            </a:r>
            <a:r>
              <a:rPr lang="en-US" sz="1400" dirty="0">
                <a:solidFill>
                  <a:srgbClr val="FF0000"/>
                </a:solidFill>
                <a:latin typeface="Larsseit" pitchFamily="2" charset="77"/>
              </a:rPr>
              <a:t>Fin-e</a:t>
            </a:r>
            <a:r>
              <a:rPr lang="en-US" sz="1400" dirty="0">
                <a:solidFill>
                  <a:srgbClr val="9B8F8B"/>
                </a:solidFill>
                <a:latin typeface="Larsseit" pitchFamily="2" charset="77"/>
              </a:rPr>
              <a:t> is moving forward in stealth mode</a:t>
            </a:r>
            <a:r>
              <a:rPr lang="en-US" dirty="0">
                <a:solidFill>
                  <a:srgbClr val="9B8F8B"/>
                </a:solidFill>
                <a:latin typeface="Larsseit" pitchFamily="2" charset="77"/>
              </a:rPr>
              <a:t>.</a:t>
            </a:r>
          </a:p>
          <a:p>
            <a:pPr algn="ctr">
              <a:lnSpc>
                <a:spcPts val="1900"/>
              </a:lnSpc>
            </a:pPr>
            <a:endParaRPr lang="en-US" i="1" dirty="0">
              <a:solidFill>
                <a:srgbClr val="9B8F8B"/>
              </a:solidFill>
              <a:latin typeface="Larsseit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399717649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>
            <a:extLst>
              <a:ext uri="{FF2B5EF4-FFF2-40B4-BE49-F238E27FC236}">
                <a16:creationId xmlns:a16="http://schemas.microsoft.com/office/drawing/2014/main" id="{98B437A3-83C0-7D4E-B4F5-29F869B9C35A}"/>
              </a:ext>
            </a:extLst>
          </p:cNvPr>
          <p:cNvSpPr txBox="1">
            <a:spLocks/>
          </p:cNvSpPr>
          <p:nvPr/>
        </p:nvSpPr>
        <p:spPr>
          <a:xfrm>
            <a:off x="349887" y="-12080"/>
            <a:ext cx="3753483" cy="700652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ts val="5000"/>
              </a:lnSpc>
            </a:pPr>
            <a:r>
              <a:rPr lang="en-US" sz="2800" b="1" dirty="0">
                <a:solidFill>
                  <a:srgbClr val="F05E39"/>
                </a:solidFill>
                <a:latin typeface="Beatrice Semibold" pitchFamily="2" charset="77"/>
                <a:ea typeface="Beatrice Semibold" pitchFamily="2" charset="77"/>
              </a:rPr>
              <a:t>Emmanuel Bukenya</a:t>
            </a:r>
            <a:endParaRPr lang="en-US" sz="2800" b="1" dirty="0">
              <a:solidFill>
                <a:srgbClr val="141059"/>
              </a:solidFill>
              <a:latin typeface="Beatrice Semibold" pitchFamily="2" charset="77"/>
              <a:ea typeface="Beatrice Semibold" pitchFamily="2" charset="77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741024F5-DD68-7046-8A0C-63017491B471}"/>
              </a:ext>
            </a:extLst>
          </p:cNvPr>
          <p:cNvSpPr/>
          <p:nvPr/>
        </p:nvSpPr>
        <p:spPr>
          <a:xfrm>
            <a:off x="5977217" y="3244334"/>
            <a:ext cx="23756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/>
              <a:t> 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321205A-7131-EC43-B5E5-719A69683039}"/>
              </a:ext>
            </a:extLst>
          </p:cNvPr>
          <p:cNvSpPr txBox="1"/>
          <p:nvPr/>
        </p:nvSpPr>
        <p:spPr>
          <a:xfrm>
            <a:off x="8006688" y="642762"/>
            <a:ext cx="4101589" cy="6463308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ts val="1800"/>
              </a:lnSpc>
            </a:pPr>
            <a:r>
              <a:rPr lang="en-US" sz="1250" spc="50" dirty="0">
                <a:solidFill>
                  <a:srgbClr val="141059"/>
                </a:solidFill>
                <a:latin typeface="Larsseit Medium" pitchFamily="2" charset="77"/>
              </a:rPr>
              <a:t>FAVORITE MOVIE:</a:t>
            </a:r>
            <a:br>
              <a:rPr lang="en-US" sz="1400" dirty="0">
                <a:solidFill>
                  <a:srgbClr val="141059"/>
                </a:solidFill>
                <a:latin typeface="Larsseit" pitchFamily="2" charset="77"/>
              </a:rPr>
            </a:br>
            <a:r>
              <a:rPr lang="en-US" sz="1400" dirty="0">
                <a:solidFill>
                  <a:srgbClr val="9B8F8B"/>
                </a:solidFill>
                <a:latin typeface="Larsseit" pitchFamily="2" charset="77"/>
              </a:rPr>
              <a:t>TBD</a:t>
            </a:r>
          </a:p>
          <a:p>
            <a:pPr>
              <a:lnSpc>
                <a:spcPts val="1800"/>
              </a:lnSpc>
            </a:pPr>
            <a:endParaRPr lang="en-US" sz="1400" dirty="0">
              <a:solidFill>
                <a:srgbClr val="9B8F8B"/>
              </a:solidFill>
              <a:latin typeface="Larsseit" pitchFamily="2" charset="77"/>
            </a:endParaRPr>
          </a:p>
          <a:p>
            <a:pPr>
              <a:lnSpc>
                <a:spcPts val="1800"/>
              </a:lnSpc>
            </a:pPr>
            <a:r>
              <a:rPr lang="en-US" sz="1250" spc="50" dirty="0">
                <a:solidFill>
                  <a:srgbClr val="141059"/>
                </a:solidFill>
                <a:latin typeface="Larsseit Medium" pitchFamily="2" charset="77"/>
              </a:rPr>
              <a:t>FAVORITE TRIP:</a:t>
            </a:r>
            <a:br>
              <a:rPr lang="en-US" sz="1400" dirty="0">
                <a:solidFill>
                  <a:srgbClr val="141059"/>
                </a:solidFill>
                <a:latin typeface="Larsseit" pitchFamily="2" charset="77"/>
              </a:rPr>
            </a:br>
            <a:r>
              <a:rPr lang="en-US" sz="1600" dirty="0">
                <a:solidFill>
                  <a:srgbClr val="9B8F8B"/>
                </a:solidFill>
                <a:latin typeface="Larsseit" pitchFamily="2" charset="77"/>
              </a:rPr>
              <a:t>Trip to Big Bear Mountain.</a:t>
            </a:r>
            <a:br>
              <a:rPr lang="en-US" sz="1400" dirty="0">
                <a:solidFill>
                  <a:srgbClr val="9B8F8B"/>
                </a:solidFill>
                <a:latin typeface="Larsseit" pitchFamily="2" charset="77"/>
              </a:rPr>
            </a:br>
            <a:endParaRPr lang="en-US" sz="1250" spc="50" dirty="0">
              <a:solidFill>
                <a:srgbClr val="141059"/>
              </a:solidFill>
              <a:latin typeface="Larsseit" pitchFamily="2" charset="77"/>
            </a:endParaRPr>
          </a:p>
          <a:p>
            <a:pPr>
              <a:lnSpc>
                <a:spcPts val="1800"/>
              </a:lnSpc>
            </a:pPr>
            <a:r>
              <a:rPr lang="en-US" sz="1250" spc="50" dirty="0">
                <a:solidFill>
                  <a:srgbClr val="141059"/>
                </a:solidFill>
                <a:latin typeface="Larsseit Medium" pitchFamily="2" charset="77"/>
              </a:rPr>
              <a:t>MAJOR LIFE ACCOMPLISHMENTS:</a:t>
            </a:r>
            <a:br>
              <a:rPr lang="en-US" sz="1600" dirty="0">
                <a:solidFill>
                  <a:srgbClr val="141059"/>
                </a:solidFill>
                <a:latin typeface="Larsseit" pitchFamily="2" charset="77"/>
              </a:rPr>
            </a:br>
            <a:r>
              <a:rPr lang="en-US" sz="1550" dirty="0">
                <a:solidFill>
                  <a:srgbClr val="9B8F8B"/>
                </a:solidFill>
                <a:latin typeface="Larsseit" pitchFamily="2" charset="77"/>
              </a:rPr>
              <a:t>Delivering solar to more than 5000 Ugandan households.</a:t>
            </a:r>
            <a:br>
              <a:rPr lang="en-US" sz="1550" dirty="0">
                <a:solidFill>
                  <a:srgbClr val="9B8F8B"/>
                </a:solidFill>
                <a:latin typeface="Larsseit" pitchFamily="2" charset="77"/>
              </a:rPr>
            </a:br>
            <a:endParaRPr lang="en-US" sz="1300" spc="50" dirty="0">
              <a:solidFill>
                <a:srgbClr val="9B8F8B"/>
              </a:solidFill>
              <a:latin typeface="Larsseit" pitchFamily="2" charset="77"/>
            </a:endParaRPr>
          </a:p>
          <a:p>
            <a:pPr>
              <a:lnSpc>
                <a:spcPts val="1800"/>
              </a:lnSpc>
            </a:pPr>
            <a:r>
              <a:rPr lang="en-US" sz="1250" spc="50" dirty="0">
                <a:solidFill>
                  <a:srgbClr val="141059"/>
                </a:solidFill>
                <a:latin typeface="Larsseit Medium" pitchFamily="2" charset="77"/>
              </a:rPr>
              <a:t>WHO ARE LEADERS (FAMOUS OR UNFAMOUS) THAT YOU LOOK TO FOR INSPIRATION AND/OR GUIDANCE?</a:t>
            </a:r>
          </a:p>
          <a:p>
            <a:pPr>
              <a:lnSpc>
                <a:spcPts val="1800"/>
              </a:lnSpc>
            </a:pPr>
            <a:r>
              <a:rPr lang="en-US" sz="1600" dirty="0">
                <a:solidFill>
                  <a:srgbClr val="9B8F8B"/>
                </a:solidFill>
                <a:latin typeface="Larsseit" pitchFamily="2" charset="77"/>
              </a:rPr>
              <a:t>Clark Valberg, CEO and Co-founder of  Invision.</a:t>
            </a:r>
            <a:br>
              <a:rPr lang="en-US" sz="1250" dirty="0">
                <a:solidFill>
                  <a:srgbClr val="141059"/>
                </a:solidFill>
                <a:latin typeface="Larsseit" pitchFamily="2" charset="77"/>
              </a:rPr>
            </a:br>
            <a:endParaRPr lang="en-US" sz="1250" dirty="0">
              <a:solidFill>
                <a:srgbClr val="141059"/>
              </a:solidFill>
              <a:latin typeface="Larsseit" pitchFamily="2" charset="77"/>
            </a:endParaRPr>
          </a:p>
          <a:p>
            <a:pPr>
              <a:lnSpc>
                <a:spcPts val="1800"/>
              </a:lnSpc>
            </a:pPr>
            <a:r>
              <a:rPr lang="en-US" sz="1250" spc="50" dirty="0">
                <a:solidFill>
                  <a:srgbClr val="141059"/>
                </a:solidFill>
                <a:latin typeface="Larsseit Medium" pitchFamily="2" charset="77"/>
              </a:rPr>
              <a:t>WHAT DO YOU HOPE TO GAIN FROM BEING A PART OF LLX GEO?</a:t>
            </a:r>
          </a:p>
          <a:p>
            <a:pPr>
              <a:lnSpc>
                <a:spcPts val="1800"/>
              </a:lnSpc>
            </a:pPr>
            <a:r>
              <a:rPr lang="en-US" sz="1600" dirty="0">
                <a:solidFill>
                  <a:srgbClr val="9B8F8B"/>
                </a:solidFill>
                <a:latin typeface="Larsseit" pitchFamily="2" charset="77"/>
              </a:rPr>
              <a:t>Achieve product-market-fit in two markets – Uganda and the US.</a:t>
            </a:r>
            <a:endParaRPr lang="en-US" sz="1600" spc="50" dirty="0">
              <a:solidFill>
                <a:srgbClr val="141059"/>
              </a:solidFill>
              <a:latin typeface="Larsseit Medium" pitchFamily="2" charset="77"/>
            </a:endParaRPr>
          </a:p>
          <a:p>
            <a:pPr>
              <a:lnSpc>
                <a:spcPts val="1800"/>
              </a:lnSpc>
            </a:pPr>
            <a:endParaRPr lang="en-US" sz="1250" dirty="0">
              <a:solidFill>
                <a:srgbClr val="141059"/>
              </a:solidFill>
              <a:latin typeface="Larsseit" pitchFamily="2" charset="77"/>
            </a:endParaRPr>
          </a:p>
          <a:p>
            <a:pPr>
              <a:lnSpc>
                <a:spcPts val="1800"/>
              </a:lnSpc>
            </a:pPr>
            <a:r>
              <a:rPr lang="en-US" sz="1250" spc="50" dirty="0">
                <a:solidFill>
                  <a:srgbClr val="141059"/>
                </a:solidFill>
                <a:latin typeface="Larsseit Medium" pitchFamily="2" charset="77"/>
              </a:rPr>
              <a:t>WHAT ELSE SHOULD WE KNOW ABOUT YOUR VENTURE?</a:t>
            </a:r>
          </a:p>
          <a:p>
            <a:pPr>
              <a:lnSpc>
                <a:spcPts val="1800"/>
              </a:lnSpc>
            </a:pPr>
            <a:r>
              <a:rPr lang="en-US" sz="1600" dirty="0">
                <a:solidFill>
                  <a:schemeClr val="bg1">
                    <a:lumMod val="50000"/>
                  </a:schemeClr>
                </a:solidFill>
                <a:latin typeface="Larsseit" pitchFamily="2" charset="77"/>
              </a:rPr>
              <a:t>Our tech product, </a:t>
            </a:r>
            <a:r>
              <a:rPr lang="en-US" sz="1600" dirty="0">
                <a:solidFill>
                  <a:schemeClr val="bg1">
                    <a:lumMod val="50000"/>
                  </a:schemeClr>
                </a:solidFill>
                <a:latin typeface="Larsseit" pitchFamily="2" charset="77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https://fine.tech</a:t>
            </a:r>
            <a:r>
              <a:rPr lang="en-US" sz="1600" dirty="0">
                <a:solidFill>
                  <a:schemeClr val="bg1">
                    <a:lumMod val="50000"/>
                  </a:schemeClr>
                </a:solidFill>
                <a:latin typeface="Larsseit" pitchFamily="2" charset="77"/>
              </a:rPr>
              <a:t>, is still operating in stealth mode.</a:t>
            </a:r>
            <a:br>
              <a:rPr lang="en-US" sz="1250" dirty="0">
                <a:solidFill>
                  <a:srgbClr val="141059"/>
                </a:solidFill>
                <a:latin typeface="Larsseit" pitchFamily="2" charset="77"/>
              </a:rPr>
            </a:br>
            <a:endParaRPr lang="en-US" sz="1250" dirty="0">
              <a:solidFill>
                <a:srgbClr val="141059"/>
              </a:solidFill>
              <a:latin typeface="Larsseit" pitchFamily="2" charset="77"/>
            </a:endParaRPr>
          </a:p>
          <a:p>
            <a:br>
              <a:rPr lang="en-US" b="0" dirty="0">
                <a:effectLst/>
              </a:rPr>
            </a:br>
            <a:endParaRPr lang="en-US" b="0" dirty="0">
              <a:effectLst/>
            </a:endParaRPr>
          </a:p>
          <a:p>
            <a:endParaRPr lang="en-US" dirty="0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87AD0B77-94EE-8A4C-BCDC-F11FDC50EB20}"/>
              </a:ext>
            </a:extLst>
          </p:cNvPr>
          <p:cNvSpPr/>
          <p:nvPr/>
        </p:nvSpPr>
        <p:spPr>
          <a:xfrm>
            <a:off x="363554" y="3613666"/>
            <a:ext cx="2791126" cy="4937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ts val="1600"/>
              </a:lnSpc>
            </a:pPr>
            <a:r>
              <a:rPr lang="en-US" sz="1250" b="1" dirty="0">
                <a:solidFill>
                  <a:srgbClr val="141059"/>
                </a:solidFill>
                <a:latin typeface="Beatrice Semibold" pitchFamily="2" charset="77"/>
                <a:ea typeface="Beatrice Semibold" pitchFamily="2" charset="77"/>
              </a:rPr>
              <a:t>Email: </a:t>
            </a:r>
            <a:r>
              <a:rPr lang="en-US" sz="1250" dirty="0">
                <a:solidFill>
                  <a:schemeClr val="bg1">
                    <a:lumMod val="50000"/>
                  </a:schemeClr>
                </a:solidFill>
                <a:latin typeface="Beatrice Semibold" pitchFamily="2" charset="77"/>
                <a:ea typeface="Beatrice Semibold" pitchFamily="2" charset="77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emmanuelb@anuelenergy.com</a:t>
            </a:r>
            <a:endParaRPr lang="en-US" sz="1250" dirty="0">
              <a:solidFill>
                <a:schemeClr val="bg1">
                  <a:lumMod val="50000"/>
                </a:schemeClr>
              </a:solidFill>
              <a:latin typeface="Beatrice Semibold" pitchFamily="2" charset="77"/>
              <a:ea typeface="Beatrice Semibold" pitchFamily="2" charset="77"/>
            </a:endParaRPr>
          </a:p>
          <a:p>
            <a:pPr>
              <a:lnSpc>
                <a:spcPts val="1600"/>
              </a:lnSpc>
            </a:pPr>
            <a:r>
              <a:rPr lang="en-US" sz="1250" b="1" dirty="0">
                <a:solidFill>
                  <a:schemeClr val="bg1">
                    <a:lumMod val="50000"/>
                  </a:schemeClr>
                </a:solidFill>
                <a:latin typeface="Beatrice Semibold" pitchFamily="2" charset="77"/>
                <a:ea typeface="Beatrice Semibold" pitchFamily="2" charset="77"/>
              </a:rPr>
              <a:t>            </a:t>
            </a:r>
            <a:r>
              <a:rPr lang="en-US" sz="1250" dirty="0">
                <a:solidFill>
                  <a:schemeClr val="bg1">
                    <a:lumMod val="50000"/>
                  </a:schemeClr>
                </a:solidFill>
                <a:latin typeface="Beatrice Semibold" pitchFamily="2" charset="77"/>
                <a:ea typeface="Beatrice Semibold" pitchFamily="2" charset="77"/>
              </a:rPr>
              <a:t>emmanuelb@fine.tech</a:t>
            </a:r>
            <a:endParaRPr lang="en-US" sz="125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002A5AEE-5378-8649-9126-2DF7742DD154}"/>
              </a:ext>
            </a:extLst>
          </p:cNvPr>
          <p:cNvSpPr txBox="1"/>
          <p:nvPr/>
        </p:nvSpPr>
        <p:spPr>
          <a:xfrm>
            <a:off x="3768408" y="628876"/>
            <a:ext cx="4080266" cy="5691302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ts val="1900"/>
              </a:lnSpc>
            </a:pPr>
            <a:r>
              <a:rPr lang="en-US" sz="1250" spc="50" dirty="0">
                <a:solidFill>
                  <a:srgbClr val="141059"/>
                </a:solidFill>
                <a:latin typeface="Larsseit Medium" pitchFamily="2" charset="77"/>
              </a:rPr>
              <a:t>PRONOUN (IF YOU WISH TO SHARE):</a:t>
            </a:r>
            <a:br>
              <a:rPr lang="en-US" sz="1600" dirty="0">
                <a:solidFill>
                  <a:srgbClr val="141059"/>
                </a:solidFill>
                <a:latin typeface="Larsseit" pitchFamily="2" charset="77"/>
              </a:rPr>
            </a:br>
            <a:r>
              <a:rPr lang="en-US" sz="1550" dirty="0">
                <a:solidFill>
                  <a:srgbClr val="9B8F8B"/>
                </a:solidFill>
                <a:latin typeface="Larsseit" pitchFamily="2" charset="77"/>
              </a:rPr>
              <a:t>Lorem ipsum dolor</a:t>
            </a:r>
            <a:br>
              <a:rPr lang="en-US" sz="1550" dirty="0">
                <a:solidFill>
                  <a:srgbClr val="9B8F8B"/>
                </a:solidFill>
                <a:latin typeface="Larsseit" pitchFamily="2" charset="77"/>
              </a:rPr>
            </a:br>
            <a:endParaRPr lang="en-US" sz="1600" dirty="0">
              <a:solidFill>
                <a:srgbClr val="141059"/>
              </a:solidFill>
              <a:latin typeface="Larsseit" pitchFamily="2" charset="77"/>
            </a:endParaRPr>
          </a:p>
          <a:p>
            <a:pPr>
              <a:lnSpc>
                <a:spcPts val="1900"/>
              </a:lnSpc>
            </a:pPr>
            <a:r>
              <a:rPr lang="en-US" sz="1250" spc="50" dirty="0">
                <a:solidFill>
                  <a:srgbClr val="141059"/>
                </a:solidFill>
                <a:latin typeface="Larsseit Medium" pitchFamily="2" charset="77"/>
              </a:rPr>
              <a:t>SCHOOLS:</a:t>
            </a:r>
          </a:p>
          <a:p>
            <a:pPr>
              <a:lnSpc>
                <a:spcPts val="1900"/>
              </a:lnSpc>
            </a:pPr>
            <a:r>
              <a:rPr lang="en-US" sz="1550" dirty="0">
                <a:solidFill>
                  <a:srgbClr val="9B8F8B"/>
                </a:solidFill>
                <a:latin typeface="Larsseit" pitchFamily="2" charset="77"/>
              </a:rPr>
              <a:t>HKS</a:t>
            </a:r>
            <a:br>
              <a:rPr lang="en-US" sz="1550" dirty="0">
                <a:solidFill>
                  <a:srgbClr val="9B8F8B"/>
                </a:solidFill>
                <a:latin typeface="Larsseit" pitchFamily="2" charset="77"/>
              </a:rPr>
            </a:br>
            <a:endParaRPr lang="en-US" sz="1600" dirty="0">
              <a:solidFill>
                <a:srgbClr val="141059"/>
              </a:solidFill>
              <a:latin typeface="Larsseit" pitchFamily="2" charset="77"/>
            </a:endParaRPr>
          </a:p>
          <a:p>
            <a:pPr>
              <a:lnSpc>
                <a:spcPts val="1800"/>
              </a:lnSpc>
            </a:pPr>
            <a:r>
              <a:rPr lang="en-US" sz="1250" spc="50" dirty="0">
                <a:solidFill>
                  <a:srgbClr val="141059"/>
                </a:solidFill>
                <a:latin typeface="Larsseit Medium" pitchFamily="2" charset="77"/>
              </a:rPr>
              <a:t>HOMETOWN:</a:t>
            </a:r>
            <a:br>
              <a:rPr lang="en-US" sz="1400" b="1" dirty="0"/>
            </a:br>
            <a:r>
              <a:rPr lang="en-US" sz="1550" dirty="0">
                <a:solidFill>
                  <a:srgbClr val="9B8F8B"/>
                </a:solidFill>
                <a:latin typeface="Larsseit" pitchFamily="2" charset="77"/>
              </a:rPr>
              <a:t>Currently in Baton Rouge, LA</a:t>
            </a:r>
            <a:br>
              <a:rPr lang="en-US" sz="1600" dirty="0">
                <a:solidFill>
                  <a:srgbClr val="9B8F8B"/>
                </a:solidFill>
                <a:latin typeface="Larsseit" pitchFamily="2" charset="77"/>
              </a:rPr>
            </a:br>
            <a:endParaRPr lang="en-US" sz="1600" dirty="0">
              <a:solidFill>
                <a:srgbClr val="9B8F8B"/>
              </a:solidFill>
              <a:latin typeface="Larsseit" pitchFamily="2" charset="77"/>
            </a:endParaRPr>
          </a:p>
          <a:p>
            <a:pPr>
              <a:lnSpc>
                <a:spcPts val="1900"/>
              </a:lnSpc>
            </a:pPr>
            <a:r>
              <a:rPr lang="en-US" sz="1250" spc="50" dirty="0">
                <a:solidFill>
                  <a:srgbClr val="141059"/>
                </a:solidFill>
                <a:latin typeface="Larsseit Medium" pitchFamily="2" charset="77"/>
              </a:rPr>
              <a:t>LINKEDIN PROFILE: </a:t>
            </a:r>
            <a:r>
              <a:rPr lang="en-US" sz="1250" spc="50" dirty="0">
                <a:solidFill>
                  <a:srgbClr val="9B8F8B"/>
                </a:solidFill>
                <a:latin typeface="Larsseit Medium" pitchFamily="2" charset="77"/>
              </a:rPr>
              <a:t> </a:t>
            </a:r>
            <a:br>
              <a:rPr lang="en-US" sz="1600" dirty="0">
                <a:solidFill>
                  <a:srgbClr val="9B8F8B"/>
                </a:solidFill>
                <a:latin typeface="Larsseit" pitchFamily="2" charset="77"/>
              </a:rPr>
            </a:br>
            <a:r>
              <a:rPr lang="en-US" altLang="en-US" sz="1600" dirty="0">
                <a:solidFill>
                  <a:schemeClr val="bg1">
                    <a:lumMod val="50000"/>
                  </a:schemeClr>
                </a:solidFill>
                <a:ea typeface="Calibri"/>
                <a:cs typeface="Calibri"/>
                <a:sym typeface="Calibri"/>
              </a:rPr>
              <a:t>linkedin.com/in/emmanuel-Bukenya/</a:t>
            </a:r>
          </a:p>
          <a:p>
            <a:pPr>
              <a:lnSpc>
                <a:spcPts val="1900"/>
              </a:lnSpc>
            </a:pPr>
            <a:endParaRPr lang="en-US" sz="1600" dirty="0">
              <a:solidFill>
                <a:srgbClr val="9B8F8B"/>
              </a:solidFill>
              <a:latin typeface="Larsseit" pitchFamily="2" charset="77"/>
            </a:endParaRPr>
          </a:p>
          <a:p>
            <a:pPr>
              <a:lnSpc>
                <a:spcPts val="1900"/>
              </a:lnSpc>
            </a:pPr>
            <a:r>
              <a:rPr lang="en-US" sz="1250" spc="50" dirty="0">
                <a:solidFill>
                  <a:srgbClr val="141059"/>
                </a:solidFill>
                <a:latin typeface="Larsseit Medium" pitchFamily="2" charset="77"/>
              </a:rPr>
              <a:t>DEGREES:  </a:t>
            </a:r>
            <a:br>
              <a:rPr lang="en-US" sz="1600" dirty="0">
                <a:solidFill>
                  <a:srgbClr val="141059"/>
                </a:solidFill>
                <a:latin typeface="Larsseit" pitchFamily="2" charset="77"/>
              </a:rPr>
            </a:br>
            <a:r>
              <a:rPr lang="en-US" sz="1550" dirty="0">
                <a:solidFill>
                  <a:srgbClr val="9B8F8B"/>
                </a:solidFill>
                <a:latin typeface="Larsseit" pitchFamily="2" charset="77"/>
              </a:rPr>
              <a:t>MPA</a:t>
            </a:r>
            <a:br>
              <a:rPr lang="en-US" sz="1550" dirty="0">
                <a:solidFill>
                  <a:srgbClr val="9B8F8B"/>
                </a:solidFill>
                <a:latin typeface="Larsseit" pitchFamily="2" charset="77"/>
              </a:rPr>
            </a:br>
            <a:endParaRPr lang="en-US" sz="1550" dirty="0">
              <a:solidFill>
                <a:srgbClr val="9B8F8B"/>
              </a:solidFill>
              <a:latin typeface="Larsseit" pitchFamily="2" charset="77"/>
            </a:endParaRPr>
          </a:p>
          <a:p>
            <a:pPr>
              <a:lnSpc>
                <a:spcPts val="1900"/>
              </a:lnSpc>
            </a:pPr>
            <a:r>
              <a:rPr lang="en-US" sz="1250" spc="50" dirty="0">
                <a:solidFill>
                  <a:srgbClr val="141059"/>
                </a:solidFill>
                <a:latin typeface="Larsseit Medium" pitchFamily="2" charset="77"/>
              </a:rPr>
              <a:t>HOBBIES:</a:t>
            </a:r>
            <a:br>
              <a:rPr lang="en-US" sz="1600" dirty="0">
                <a:solidFill>
                  <a:srgbClr val="141059"/>
                </a:solidFill>
                <a:latin typeface="Larsseit" pitchFamily="2" charset="77"/>
              </a:rPr>
            </a:br>
            <a:r>
              <a:rPr lang="en-US" sz="1600" dirty="0">
                <a:solidFill>
                  <a:srgbClr val="9B8F8B"/>
                </a:solidFill>
                <a:latin typeface="Larsseit" pitchFamily="2" charset="77"/>
              </a:rPr>
              <a:t>Running, Cooking and Design experiments </a:t>
            </a:r>
            <a:br>
              <a:rPr lang="en-US" sz="1600" dirty="0">
                <a:solidFill>
                  <a:srgbClr val="9B8F8B"/>
                </a:solidFill>
                <a:latin typeface="Larsseit" pitchFamily="2" charset="77"/>
              </a:rPr>
            </a:br>
            <a:endParaRPr lang="en-US" sz="1250" dirty="0">
              <a:solidFill>
                <a:srgbClr val="141059"/>
              </a:solidFill>
              <a:latin typeface="Larsseit" pitchFamily="2" charset="77"/>
            </a:endParaRPr>
          </a:p>
          <a:p>
            <a:pPr>
              <a:lnSpc>
                <a:spcPts val="1900"/>
              </a:lnSpc>
            </a:pPr>
            <a:r>
              <a:rPr lang="en-US" sz="1250" spc="50" dirty="0">
                <a:solidFill>
                  <a:srgbClr val="141059"/>
                </a:solidFill>
                <a:latin typeface="Larsseit Medium" pitchFamily="2" charset="77"/>
              </a:rPr>
              <a:t>FAVORITE FOODS: </a:t>
            </a:r>
            <a:br>
              <a:rPr lang="en-US" sz="1600" dirty="0">
                <a:solidFill>
                  <a:srgbClr val="141059"/>
                </a:solidFill>
                <a:latin typeface="Larsseit" pitchFamily="2" charset="77"/>
              </a:rPr>
            </a:br>
            <a:r>
              <a:rPr lang="en-US" dirty="0">
                <a:solidFill>
                  <a:schemeClr val="bg1">
                    <a:lumMod val="50000"/>
                  </a:schemeClr>
                </a:solidFill>
              </a:rPr>
              <a:t>Étouffée</a:t>
            </a:r>
            <a:endParaRPr lang="en-US" sz="1550" dirty="0">
              <a:solidFill>
                <a:schemeClr val="bg1">
                  <a:lumMod val="50000"/>
                </a:schemeClr>
              </a:solidFill>
              <a:latin typeface="Larsseit" pitchFamily="2" charset="77"/>
            </a:endParaRPr>
          </a:p>
          <a:p>
            <a:pPr>
              <a:lnSpc>
                <a:spcPts val="1900"/>
              </a:lnSpc>
            </a:pPr>
            <a:br>
              <a:rPr lang="en-US" sz="1600" dirty="0"/>
            </a:br>
            <a:endParaRPr lang="en-US" sz="1300" spc="50" dirty="0">
              <a:solidFill>
                <a:srgbClr val="9B8F8B"/>
              </a:solidFill>
              <a:latin typeface="Larsseit" pitchFamily="2" charset="77"/>
            </a:endParaRPr>
          </a:p>
          <a:p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60299C1-14DC-CA48-A456-BD471B0BA4C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1163" y="847094"/>
            <a:ext cx="2630910" cy="26309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521965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>
            <a:extLst>
              <a:ext uri="{FF2B5EF4-FFF2-40B4-BE49-F238E27FC236}">
                <a16:creationId xmlns:a16="http://schemas.microsoft.com/office/drawing/2014/main" id="{98B437A3-83C0-7D4E-B4F5-29F869B9C35A}"/>
              </a:ext>
            </a:extLst>
          </p:cNvPr>
          <p:cNvSpPr txBox="1">
            <a:spLocks/>
          </p:cNvSpPr>
          <p:nvPr/>
        </p:nvSpPr>
        <p:spPr>
          <a:xfrm>
            <a:off x="349887" y="-12080"/>
            <a:ext cx="3753483" cy="700652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ts val="5000"/>
              </a:lnSpc>
            </a:pPr>
            <a:r>
              <a:rPr lang="en-US" sz="2800" b="1" dirty="0">
                <a:solidFill>
                  <a:srgbClr val="F05E39"/>
                </a:solidFill>
                <a:latin typeface="Beatrice Semibold" pitchFamily="2" charset="77"/>
                <a:ea typeface="Beatrice Semibold" pitchFamily="2" charset="77"/>
              </a:rPr>
              <a:t>Frank Neil </a:t>
            </a:r>
            <a:r>
              <a:rPr lang="en-US" sz="2800" b="1" dirty="0" err="1">
                <a:solidFill>
                  <a:srgbClr val="F05E39"/>
                </a:solidFill>
                <a:latin typeface="Beatrice Semibold" pitchFamily="2" charset="77"/>
                <a:ea typeface="Beatrice Semibold" pitchFamily="2" charset="77"/>
              </a:rPr>
              <a:t>Yiga</a:t>
            </a:r>
            <a:endParaRPr lang="en-US" sz="2800" b="1" dirty="0">
              <a:solidFill>
                <a:srgbClr val="141059"/>
              </a:solidFill>
              <a:latin typeface="Beatrice Semibold" pitchFamily="2" charset="77"/>
              <a:ea typeface="Beatrice Semibold" pitchFamily="2" charset="77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741024F5-DD68-7046-8A0C-63017491B471}"/>
              </a:ext>
            </a:extLst>
          </p:cNvPr>
          <p:cNvSpPr/>
          <p:nvPr/>
        </p:nvSpPr>
        <p:spPr>
          <a:xfrm>
            <a:off x="5977217" y="3244334"/>
            <a:ext cx="23756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/>
              <a:t> 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321205A-7131-EC43-B5E5-719A69683039}"/>
              </a:ext>
            </a:extLst>
          </p:cNvPr>
          <p:cNvSpPr txBox="1"/>
          <p:nvPr/>
        </p:nvSpPr>
        <p:spPr>
          <a:xfrm>
            <a:off x="8006688" y="642762"/>
            <a:ext cx="4101589" cy="6463308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ts val="1800"/>
              </a:lnSpc>
            </a:pPr>
            <a:r>
              <a:rPr lang="en-US" sz="1250" spc="50" dirty="0">
                <a:solidFill>
                  <a:srgbClr val="141059"/>
                </a:solidFill>
                <a:latin typeface="Larsseit Medium" pitchFamily="2" charset="77"/>
              </a:rPr>
              <a:t>FAVORITE MOVIE:</a:t>
            </a:r>
            <a:br>
              <a:rPr lang="en-US" sz="1400" dirty="0">
                <a:solidFill>
                  <a:srgbClr val="141059"/>
                </a:solidFill>
                <a:latin typeface="Larsseit" pitchFamily="2" charset="77"/>
              </a:rPr>
            </a:br>
            <a:r>
              <a:rPr lang="en-US" sz="1400" dirty="0">
                <a:solidFill>
                  <a:srgbClr val="9B8F8B"/>
                </a:solidFill>
                <a:latin typeface="Larsseit" pitchFamily="2" charset="77"/>
              </a:rPr>
              <a:t>TBD</a:t>
            </a:r>
          </a:p>
          <a:p>
            <a:pPr>
              <a:lnSpc>
                <a:spcPts val="1800"/>
              </a:lnSpc>
            </a:pPr>
            <a:endParaRPr lang="en-US" sz="1400" dirty="0">
              <a:solidFill>
                <a:srgbClr val="9B8F8B"/>
              </a:solidFill>
              <a:latin typeface="Larsseit" pitchFamily="2" charset="77"/>
            </a:endParaRPr>
          </a:p>
          <a:p>
            <a:pPr>
              <a:lnSpc>
                <a:spcPts val="1800"/>
              </a:lnSpc>
            </a:pPr>
            <a:r>
              <a:rPr lang="en-US" sz="1250" spc="50" dirty="0">
                <a:solidFill>
                  <a:srgbClr val="141059"/>
                </a:solidFill>
                <a:latin typeface="Larsseit Medium" pitchFamily="2" charset="77"/>
              </a:rPr>
              <a:t>FAVORITE TRIP:</a:t>
            </a:r>
            <a:br>
              <a:rPr lang="en-US" sz="1400" dirty="0">
                <a:solidFill>
                  <a:srgbClr val="141059"/>
                </a:solidFill>
                <a:latin typeface="Larsseit" pitchFamily="2" charset="77"/>
              </a:rPr>
            </a:br>
            <a:r>
              <a:rPr lang="en-US" sz="1600" dirty="0">
                <a:solidFill>
                  <a:srgbClr val="9B8F8B"/>
                </a:solidFill>
                <a:latin typeface="Larsseit" pitchFamily="2" charset="77"/>
              </a:rPr>
              <a:t>Trip to Northern German.</a:t>
            </a:r>
            <a:br>
              <a:rPr lang="en-US" sz="1400" dirty="0">
                <a:solidFill>
                  <a:srgbClr val="9B8F8B"/>
                </a:solidFill>
                <a:latin typeface="Larsseit" pitchFamily="2" charset="77"/>
              </a:rPr>
            </a:br>
            <a:endParaRPr lang="en-US" sz="1250" spc="50" dirty="0">
              <a:solidFill>
                <a:srgbClr val="141059"/>
              </a:solidFill>
              <a:latin typeface="Larsseit" pitchFamily="2" charset="77"/>
            </a:endParaRPr>
          </a:p>
          <a:p>
            <a:pPr>
              <a:lnSpc>
                <a:spcPts val="1800"/>
              </a:lnSpc>
            </a:pPr>
            <a:r>
              <a:rPr lang="en-US" sz="1250" spc="50" dirty="0">
                <a:solidFill>
                  <a:srgbClr val="141059"/>
                </a:solidFill>
                <a:latin typeface="Larsseit Medium" pitchFamily="2" charset="77"/>
              </a:rPr>
              <a:t>MAJOR LIFE ACCOMPLISHMENTS:</a:t>
            </a:r>
            <a:br>
              <a:rPr lang="en-US" sz="1600" dirty="0">
                <a:solidFill>
                  <a:srgbClr val="141059"/>
                </a:solidFill>
                <a:latin typeface="Larsseit" pitchFamily="2" charset="77"/>
              </a:rPr>
            </a:br>
            <a:r>
              <a:rPr lang="en-US" sz="1550" dirty="0">
                <a:solidFill>
                  <a:srgbClr val="9B8F8B"/>
                </a:solidFill>
                <a:latin typeface="Larsseit" pitchFamily="2" charset="77"/>
              </a:rPr>
              <a:t>Delivering solar to more than 5000 Ugandan households.</a:t>
            </a:r>
            <a:br>
              <a:rPr lang="en-US" sz="1550" dirty="0">
                <a:solidFill>
                  <a:srgbClr val="9B8F8B"/>
                </a:solidFill>
                <a:latin typeface="Larsseit" pitchFamily="2" charset="77"/>
              </a:rPr>
            </a:br>
            <a:endParaRPr lang="en-US" sz="1300" spc="50" dirty="0">
              <a:solidFill>
                <a:srgbClr val="9B8F8B"/>
              </a:solidFill>
              <a:latin typeface="Larsseit" pitchFamily="2" charset="77"/>
            </a:endParaRPr>
          </a:p>
          <a:p>
            <a:pPr>
              <a:lnSpc>
                <a:spcPts val="1800"/>
              </a:lnSpc>
            </a:pPr>
            <a:r>
              <a:rPr lang="en-US" sz="1250" spc="50" dirty="0">
                <a:solidFill>
                  <a:srgbClr val="141059"/>
                </a:solidFill>
                <a:latin typeface="Larsseit Medium" pitchFamily="2" charset="77"/>
              </a:rPr>
              <a:t>WHO ARE LEADERS (FAMOUS OR UNFAMOUS) THAT YOU LOOK TO FOR INSPIRATION AND/OR GUIDANCE?</a:t>
            </a:r>
          </a:p>
          <a:p>
            <a:pPr>
              <a:lnSpc>
                <a:spcPts val="1800"/>
              </a:lnSpc>
            </a:pPr>
            <a:r>
              <a:rPr lang="en-US" dirty="0">
                <a:solidFill>
                  <a:schemeClr val="bg1">
                    <a:lumMod val="50000"/>
                  </a:schemeClr>
                </a:solidFill>
              </a:rPr>
              <a:t>Dr. Harald Schützeichel at Solar Connect</a:t>
            </a:r>
          </a:p>
          <a:p>
            <a:pPr>
              <a:lnSpc>
                <a:spcPts val="1800"/>
              </a:lnSpc>
            </a:pPr>
            <a:endParaRPr lang="en-US" sz="1250" dirty="0">
              <a:solidFill>
                <a:srgbClr val="141059"/>
              </a:solidFill>
              <a:latin typeface="Larsseit" pitchFamily="2" charset="77"/>
            </a:endParaRPr>
          </a:p>
          <a:p>
            <a:pPr>
              <a:lnSpc>
                <a:spcPts val="1800"/>
              </a:lnSpc>
            </a:pPr>
            <a:r>
              <a:rPr lang="en-US" sz="1250" spc="50" dirty="0">
                <a:solidFill>
                  <a:srgbClr val="141059"/>
                </a:solidFill>
                <a:latin typeface="Larsseit Medium" pitchFamily="2" charset="77"/>
              </a:rPr>
              <a:t>WHAT DO YOU HOPE TO GAIN FROM BEING A PART OF LLX GEO?</a:t>
            </a:r>
          </a:p>
          <a:p>
            <a:pPr>
              <a:lnSpc>
                <a:spcPts val="1800"/>
              </a:lnSpc>
            </a:pPr>
            <a:r>
              <a:rPr lang="en-US" sz="1600" dirty="0">
                <a:solidFill>
                  <a:srgbClr val="9B8F8B"/>
                </a:solidFill>
                <a:latin typeface="Larsseit" pitchFamily="2" charset="77"/>
              </a:rPr>
              <a:t>Achieve product-market-fit in two markets – Uganda and the US.</a:t>
            </a:r>
            <a:endParaRPr lang="en-US" sz="1600" spc="50" dirty="0">
              <a:solidFill>
                <a:srgbClr val="141059"/>
              </a:solidFill>
              <a:latin typeface="Larsseit Medium" pitchFamily="2" charset="77"/>
            </a:endParaRPr>
          </a:p>
          <a:p>
            <a:pPr>
              <a:lnSpc>
                <a:spcPts val="1800"/>
              </a:lnSpc>
            </a:pPr>
            <a:endParaRPr lang="en-US" sz="1250" dirty="0">
              <a:solidFill>
                <a:srgbClr val="141059"/>
              </a:solidFill>
              <a:latin typeface="Larsseit" pitchFamily="2" charset="77"/>
            </a:endParaRPr>
          </a:p>
          <a:p>
            <a:pPr>
              <a:lnSpc>
                <a:spcPts val="1800"/>
              </a:lnSpc>
            </a:pPr>
            <a:r>
              <a:rPr lang="en-US" sz="1250" spc="50" dirty="0">
                <a:solidFill>
                  <a:srgbClr val="141059"/>
                </a:solidFill>
                <a:latin typeface="Larsseit Medium" pitchFamily="2" charset="77"/>
              </a:rPr>
              <a:t>WHAT ELSE SHOULD WE KNOW ABOUT YOUR VENTURE?</a:t>
            </a:r>
          </a:p>
          <a:p>
            <a:pPr>
              <a:lnSpc>
                <a:spcPts val="1800"/>
              </a:lnSpc>
            </a:pPr>
            <a:r>
              <a:rPr lang="en-US" sz="1600" dirty="0">
                <a:solidFill>
                  <a:schemeClr val="bg1">
                    <a:lumMod val="50000"/>
                  </a:schemeClr>
                </a:solidFill>
                <a:latin typeface="Larsseit" pitchFamily="2" charset="77"/>
              </a:rPr>
              <a:t>Our tech product, </a:t>
            </a:r>
            <a:r>
              <a:rPr lang="en-US" sz="1600" dirty="0">
                <a:solidFill>
                  <a:schemeClr val="bg1">
                    <a:lumMod val="50000"/>
                  </a:schemeClr>
                </a:solidFill>
                <a:latin typeface="Larsseit" pitchFamily="2" charset="77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https://fine.tech</a:t>
            </a:r>
            <a:r>
              <a:rPr lang="en-US" sz="1600" dirty="0">
                <a:solidFill>
                  <a:schemeClr val="bg1">
                    <a:lumMod val="50000"/>
                  </a:schemeClr>
                </a:solidFill>
                <a:latin typeface="Larsseit" pitchFamily="2" charset="77"/>
              </a:rPr>
              <a:t>, is still operating in stealth mode.</a:t>
            </a:r>
            <a:br>
              <a:rPr lang="en-US" sz="1250" dirty="0">
                <a:solidFill>
                  <a:srgbClr val="141059"/>
                </a:solidFill>
                <a:latin typeface="Larsseit" pitchFamily="2" charset="77"/>
              </a:rPr>
            </a:br>
            <a:endParaRPr lang="en-US" sz="1250" dirty="0">
              <a:solidFill>
                <a:srgbClr val="141059"/>
              </a:solidFill>
              <a:latin typeface="Larsseit" pitchFamily="2" charset="77"/>
            </a:endParaRPr>
          </a:p>
          <a:p>
            <a:br>
              <a:rPr lang="en-US" b="0" dirty="0">
                <a:effectLst/>
              </a:rPr>
            </a:br>
            <a:endParaRPr lang="en-US" b="0" dirty="0">
              <a:effectLst/>
            </a:endParaRPr>
          </a:p>
          <a:p>
            <a:endParaRPr lang="en-US" dirty="0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87AD0B77-94EE-8A4C-BCDC-F11FDC50EB20}"/>
              </a:ext>
            </a:extLst>
          </p:cNvPr>
          <p:cNvSpPr/>
          <p:nvPr/>
        </p:nvSpPr>
        <p:spPr>
          <a:xfrm>
            <a:off x="363554" y="3613666"/>
            <a:ext cx="2791126" cy="4937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ts val="1600"/>
              </a:lnSpc>
            </a:pPr>
            <a:r>
              <a:rPr lang="en-US" sz="1250" b="1" dirty="0">
                <a:solidFill>
                  <a:srgbClr val="141059"/>
                </a:solidFill>
                <a:latin typeface="Beatrice Semibold" pitchFamily="2" charset="77"/>
                <a:ea typeface="Beatrice Semibold" pitchFamily="2" charset="77"/>
              </a:rPr>
              <a:t>Email: </a:t>
            </a:r>
            <a:r>
              <a:rPr lang="en-US" sz="1250" b="1" dirty="0" err="1">
                <a:solidFill>
                  <a:schemeClr val="bg1">
                    <a:lumMod val="50000"/>
                  </a:schemeClr>
                </a:solidFill>
                <a:latin typeface="Beatrice Semibold" pitchFamily="2" charset="77"/>
                <a:ea typeface="Beatrice Semibold" pitchFamily="2" charset="77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franky@anuelenergy</a:t>
            </a:r>
            <a:r>
              <a:rPr lang="en-US" sz="1250" b="1" dirty="0" err="1">
                <a:solidFill>
                  <a:schemeClr val="bg1">
                    <a:lumMod val="50000"/>
                  </a:schemeClr>
                </a:solidFill>
                <a:latin typeface="Beatrice Semibold" pitchFamily="2" charset="77"/>
                <a:ea typeface="Beatrice Semibold" pitchFamily="2" charset="77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.com</a:t>
            </a:r>
            <a:endParaRPr lang="en-US" sz="1250" b="1" dirty="0">
              <a:solidFill>
                <a:schemeClr val="bg1">
                  <a:lumMod val="50000"/>
                </a:schemeClr>
              </a:solidFill>
              <a:latin typeface="Beatrice Semibold" pitchFamily="2" charset="77"/>
              <a:ea typeface="Beatrice Semibold" pitchFamily="2" charset="77"/>
            </a:endParaRPr>
          </a:p>
          <a:p>
            <a:pPr>
              <a:lnSpc>
                <a:spcPts val="1600"/>
              </a:lnSpc>
            </a:pPr>
            <a:r>
              <a:rPr lang="en-US" sz="1250" b="1" dirty="0">
                <a:solidFill>
                  <a:schemeClr val="bg1">
                    <a:lumMod val="50000"/>
                  </a:schemeClr>
                </a:solidFill>
                <a:latin typeface="Beatrice Semibold" pitchFamily="2" charset="77"/>
                <a:ea typeface="Beatrice Semibold" pitchFamily="2" charset="77"/>
              </a:rPr>
              <a:t>            franky@fine.tech</a:t>
            </a:r>
            <a:endParaRPr lang="en-US" sz="125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002A5AEE-5378-8649-9126-2DF7742DD154}"/>
              </a:ext>
            </a:extLst>
          </p:cNvPr>
          <p:cNvSpPr txBox="1"/>
          <p:nvPr/>
        </p:nvSpPr>
        <p:spPr>
          <a:xfrm>
            <a:off x="3768408" y="628876"/>
            <a:ext cx="4080266" cy="5691302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ts val="1900"/>
              </a:lnSpc>
            </a:pPr>
            <a:r>
              <a:rPr lang="en-US" sz="1250" spc="50" dirty="0">
                <a:solidFill>
                  <a:srgbClr val="141059"/>
                </a:solidFill>
                <a:latin typeface="Larsseit Medium" pitchFamily="2" charset="77"/>
              </a:rPr>
              <a:t>PRONOUN (IF YOU WISH TO SHARE):</a:t>
            </a:r>
            <a:br>
              <a:rPr lang="en-US" sz="1600" dirty="0">
                <a:solidFill>
                  <a:srgbClr val="141059"/>
                </a:solidFill>
                <a:latin typeface="Larsseit" pitchFamily="2" charset="77"/>
              </a:rPr>
            </a:br>
            <a:r>
              <a:rPr lang="en-US" sz="1550" dirty="0">
                <a:solidFill>
                  <a:srgbClr val="9B8F8B"/>
                </a:solidFill>
                <a:latin typeface="Larsseit" pitchFamily="2" charset="77"/>
              </a:rPr>
              <a:t>Lorem ipsum dolor</a:t>
            </a:r>
            <a:br>
              <a:rPr lang="en-US" sz="1550" dirty="0">
                <a:solidFill>
                  <a:srgbClr val="9B8F8B"/>
                </a:solidFill>
                <a:latin typeface="Larsseit" pitchFamily="2" charset="77"/>
              </a:rPr>
            </a:br>
            <a:endParaRPr lang="en-US" sz="1600" dirty="0">
              <a:solidFill>
                <a:srgbClr val="141059"/>
              </a:solidFill>
              <a:latin typeface="Larsseit" pitchFamily="2" charset="77"/>
            </a:endParaRPr>
          </a:p>
          <a:p>
            <a:pPr>
              <a:lnSpc>
                <a:spcPts val="1900"/>
              </a:lnSpc>
            </a:pPr>
            <a:r>
              <a:rPr lang="en-US" sz="1250" spc="50" dirty="0">
                <a:solidFill>
                  <a:srgbClr val="141059"/>
                </a:solidFill>
                <a:latin typeface="Larsseit Medium" pitchFamily="2" charset="77"/>
              </a:rPr>
              <a:t>SCHOOLS:</a:t>
            </a:r>
          </a:p>
          <a:p>
            <a:pPr>
              <a:lnSpc>
                <a:spcPts val="1900"/>
              </a:lnSpc>
            </a:pPr>
            <a:r>
              <a:rPr lang="en-US" sz="1550" dirty="0">
                <a:solidFill>
                  <a:srgbClr val="9B8F8B"/>
                </a:solidFill>
                <a:latin typeface="Larsseit" pitchFamily="2" charset="77"/>
              </a:rPr>
              <a:t>Universita Cattolica del Sacro Cuore, Italy.</a:t>
            </a:r>
            <a:br>
              <a:rPr lang="en-US" sz="1550" dirty="0">
                <a:solidFill>
                  <a:srgbClr val="9B8F8B"/>
                </a:solidFill>
                <a:latin typeface="Larsseit" pitchFamily="2" charset="77"/>
              </a:rPr>
            </a:br>
            <a:endParaRPr lang="en-US" sz="1600" dirty="0">
              <a:solidFill>
                <a:srgbClr val="141059"/>
              </a:solidFill>
              <a:latin typeface="Larsseit" pitchFamily="2" charset="77"/>
            </a:endParaRPr>
          </a:p>
          <a:p>
            <a:pPr>
              <a:lnSpc>
                <a:spcPts val="1800"/>
              </a:lnSpc>
            </a:pPr>
            <a:r>
              <a:rPr lang="en-US" sz="1250" spc="50" dirty="0">
                <a:solidFill>
                  <a:srgbClr val="141059"/>
                </a:solidFill>
                <a:latin typeface="Larsseit Medium" pitchFamily="2" charset="77"/>
              </a:rPr>
              <a:t>HOMETOWN:</a:t>
            </a:r>
            <a:br>
              <a:rPr lang="en-US" sz="1400" b="1" dirty="0"/>
            </a:br>
            <a:r>
              <a:rPr lang="en-US" sz="1550" dirty="0">
                <a:solidFill>
                  <a:srgbClr val="9B8F8B"/>
                </a:solidFill>
                <a:latin typeface="Larsseit" pitchFamily="2" charset="77"/>
              </a:rPr>
              <a:t>Kampala, Uganda</a:t>
            </a:r>
            <a:br>
              <a:rPr lang="en-US" sz="1600" dirty="0">
                <a:solidFill>
                  <a:srgbClr val="9B8F8B"/>
                </a:solidFill>
                <a:latin typeface="Larsseit" pitchFamily="2" charset="77"/>
              </a:rPr>
            </a:br>
            <a:endParaRPr lang="en-US" sz="1600" dirty="0">
              <a:solidFill>
                <a:srgbClr val="9B8F8B"/>
              </a:solidFill>
              <a:latin typeface="Larsseit" pitchFamily="2" charset="77"/>
            </a:endParaRPr>
          </a:p>
          <a:p>
            <a:pPr>
              <a:defRPr/>
            </a:pPr>
            <a:r>
              <a:rPr lang="en-US" sz="1250" spc="50" dirty="0">
                <a:solidFill>
                  <a:srgbClr val="141059"/>
                </a:solidFill>
                <a:latin typeface="Larsseit Medium" pitchFamily="2" charset="77"/>
              </a:rPr>
              <a:t>LINKEDIN PROFILE: </a:t>
            </a:r>
            <a:r>
              <a:rPr lang="en-US" sz="1250" spc="50" dirty="0">
                <a:solidFill>
                  <a:srgbClr val="9B8F8B"/>
                </a:solidFill>
                <a:latin typeface="Larsseit Medium" pitchFamily="2" charset="77"/>
              </a:rPr>
              <a:t> </a:t>
            </a:r>
            <a:br>
              <a:rPr lang="en-US" sz="1600" dirty="0">
                <a:solidFill>
                  <a:srgbClr val="9B8F8B"/>
                </a:solidFill>
                <a:latin typeface="Larsseit" pitchFamily="2" charset="77"/>
              </a:rPr>
            </a:br>
            <a:r>
              <a:rPr lang="en-US" altLang="en-US" sz="1600" dirty="0">
                <a:solidFill>
                  <a:schemeClr val="bg1">
                    <a:lumMod val="50000"/>
                  </a:schemeClr>
                </a:solidFill>
                <a:ea typeface="Calibri"/>
                <a:cs typeface="Calibri"/>
                <a:sym typeface="Calibri"/>
              </a:rPr>
              <a:t>linkedin.com/in/neil-frank-yiga-a9823b17/</a:t>
            </a:r>
          </a:p>
          <a:p>
            <a:pPr>
              <a:lnSpc>
                <a:spcPts val="1900"/>
              </a:lnSpc>
            </a:pPr>
            <a:endParaRPr lang="en-US" sz="1600" dirty="0">
              <a:solidFill>
                <a:srgbClr val="9B8F8B"/>
              </a:solidFill>
              <a:latin typeface="Larsseit" pitchFamily="2" charset="77"/>
            </a:endParaRPr>
          </a:p>
          <a:p>
            <a:pPr>
              <a:lnSpc>
                <a:spcPts val="1900"/>
              </a:lnSpc>
            </a:pPr>
            <a:r>
              <a:rPr lang="en-US" sz="1250" spc="50" dirty="0">
                <a:solidFill>
                  <a:srgbClr val="141059"/>
                </a:solidFill>
                <a:latin typeface="Larsseit Medium" pitchFamily="2" charset="77"/>
              </a:rPr>
              <a:t>DEGREES:  </a:t>
            </a:r>
            <a:br>
              <a:rPr lang="en-US" sz="1600" dirty="0">
                <a:solidFill>
                  <a:srgbClr val="141059"/>
                </a:solidFill>
                <a:latin typeface="Larsseit" pitchFamily="2" charset="77"/>
              </a:rPr>
            </a:br>
            <a:r>
              <a:rPr lang="en-US" sz="1550" dirty="0">
                <a:solidFill>
                  <a:srgbClr val="9B8F8B"/>
                </a:solidFill>
                <a:latin typeface="Larsseit" pitchFamily="2" charset="77"/>
              </a:rPr>
              <a:t>MBA</a:t>
            </a:r>
            <a:br>
              <a:rPr lang="en-US" sz="1550" dirty="0">
                <a:solidFill>
                  <a:srgbClr val="9B8F8B"/>
                </a:solidFill>
                <a:latin typeface="Larsseit" pitchFamily="2" charset="77"/>
              </a:rPr>
            </a:br>
            <a:endParaRPr lang="en-US" sz="1550" dirty="0">
              <a:solidFill>
                <a:srgbClr val="9B8F8B"/>
              </a:solidFill>
              <a:latin typeface="Larsseit" pitchFamily="2" charset="77"/>
            </a:endParaRPr>
          </a:p>
          <a:p>
            <a:pPr>
              <a:lnSpc>
                <a:spcPts val="1900"/>
              </a:lnSpc>
            </a:pPr>
            <a:r>
              <a:rPr lang="en-US" sz="1250" spc="50" dirty="0">
                <a:solidFill>
                  <a:srgbClr val="141059"/>
                </a:solidFill>
                <a:latin typeface="Larsseit Medium" pitchFamily="2" charset="77"/>
              </a:rPr>
              <a:t>HOBBIES:</a:t>
            </a:r>
            <a:br>
              <a:rPr lang="en-US" sz="1600" dirty="0">
                <a:solidFill>
                  <a:srgbClr val="141059"/>
                </a:solidFill>
                <a:latin typeface="Larsseit" pitchFamily="2" charset="77"/>
              </a:rPr>
            </a:br>
            <a:r>
              <a:rPr lang="en-US" sz="1600" dirty="0">
                <a:solidFill>
                  <a:srgbClr val="9B8F8B"/>
                </a:solidFill>
                <a:latin typeface="Larsseit" pitchFamily="2" charset="77"/>
              </a:rPr>
              <a:t>Community organization. </a:t>
            </a:r>
            <a:br>
              <a:rPr lang="en-US" sz="1600" dirty="0">
                <a:solidFill>
                  <a:srgbClr val="9B8F8B"/>
                </a:solidFill>
                <a:latin typeface="Larsseit" pitchFamily="2" charset="77"/>
              </a:rPr>
            </a:br>
            <a:endParaRPr lang="en-US" sz="1250" dirty="0">
              <a:solidFill>
                <a:srgbClr val="141059"/>
              </a:solidFill>
              <a:latin typeface="Larsseit" pitchFamily="2" charset="77"/>
            </a:endParaRPr>
          </a:p>
          <a:p>
            <a:pPr>
              <a:lnSpc>
                <a:spcPts val="1900"/>
              </a:lnSpc>
            </a:pPr>
            <a:r>
              <a:rPr lang="en-US" sz="1250" spc="50" dirty="0">
                <a:solidFill>
                  <a:srgbClr val="141059"/>
                </a:solidFill>
                <a:latin typeface="Larsseit Medium" pitchFamily="2" charset="77"/>
              </a:rPr>
              <a:t>FAVORITE FOODS: </a:t>
            </a:r>
            <a:br>
              <a:rPr lang="en-US" sz="1600" dirty="0">
                <a:solidFill>
                  <a:srgbClr val="141059"/>
                </a:solidFill>
                <a:latin typeface="Larsseit" pitchFamily="2" charset="77"/>
              </a:rPr>
            </a:br>
            <a:r>
              <a:rPr lang="en-US" sz="1600" dirty="0">
                <a:solidFill>
                  <a:schemeClr val="bg1">
                    <a:lumMod val="50000"/>
                  </a:schemeClr>
                </a:solidFill>
              </a:rPr>
              <a:t>Luwombo</a:t>
            </a:r>
            <a:endParaRPr lang="en-US" sz="1600" dirty="0">
              <a:solidFill>
                <a:schemeClr val="bg1">
                  <a:lumMod val="50000"/>
                </a:schemeClr>
              </a:solidFill>
              <a:latin typeface="Larsseit" pitchFamily="2" charset="77"/>
            </a:endParaRPr>
          </a:p>
          <a:p>
            <a:pPr>
              <a:lnSpc>
                <a:spcPts val="1900"/>
              </a:lnSpc>
            </a:pPr>
            <a:br>
              <a:rPr lang="en-US" sz="1600" dirty="0"/>
            </a:br>
            <a:endParaRPr lang="en-US" sz="1300" spc="50" dirty="0">
              <a:solidFill>
                <a:srgbClr val="9B8F8B"/>
              </a:solidFill>
              <a:latin typeface="Larsseit" pitchFamily="2" charset="77"/>
            </a:endParaRPr>
          </a:p>
          <a:p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DA72A8E-F0A1-E94C-B0C9-940D0502812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7200" y="766521"/>
            <a:ext cx="2708909" cy="27089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03996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16368</TotalTime>
  <Words>715</Words>
  <Application>Microsoft Macintosh PowerPoint</Application>
  <PresentationFormat>Widescreen</PresentationFormat>
  <Paragraphs>91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12" baseType="lpstr">
      <vt:lpstr>Arial</vt:lpstr>
      <vt:lpstr>Beatrice Medium</vt:lpstr>
      <vt:lpstr>Beatrice Semibold</vt:lpstr>
      <vt:lpstr>Calibri</vt:lpstr>
      <vt:lpstr>Calibri Light</vt:lpstr>
      <vt:lpstr>Larsseit</vt:lpstr>
      <vt:lpstr>Larsseit Medium</vt:lpstr>
      <vt:lpstr>Office Theme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16.0016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Pillai, Thara</dc:creator>
  <cp:lastModifiedBy>Bukenya, Emmanuel</cp:lastModifiedBy>
  <cp:revision>32</cp:revision>
  <dcterms:created xsi:type="dcterms:W3CDTF">2020-09-03T14:23:20Z</dcterms:created>
  <dcterms:modified xsi:type="dcterms:W3CDTF">2020-09-29T20:36:47Z</dcterms:modified>
</cp:coreProperties>
</file>